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7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embeddedFontLst>
    <p:embeddedFont>
      <p:font typeface="Merriweather" panose="00000500000000000000" pitchFamily="2" charset="0"/>
      <p:regular r:id="rId15"/>
      <p:bold r:id="rId16"/>
      <p:italic r:id="rId17"/>
      <p:boldItalic r:id="rId18"/>
    </p:embeddedFont>
    <p:embeddedFont>
      <p:font typeface="Roboto" panose="02000000000000000000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4898991F-B7B8-460C-B366-B8A15D494E36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Untitled Section" id="{656D8B1D-BE78-47E6-9192-F42715E52364}">
          <p14:sldIdLst>
            <p14:sldId id="263"/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-5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" name="Google Shape;5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The max flow algorithm in the visualization is :-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TWO_COLUMNS" type="twoColTx">
  <p:cSld name="TITLE_AND_TWO_COLUMNS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body" idx="1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body" idx="2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ONLY" type="titleOnly">
  <p:cSld name="TITLE_ONL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0" y="48099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28" name="Google Shape;28;p6"/>
          <p:cNvSpPr/>
          <p:nvPr/>
        </p:nvSpPr>
        <p:spPr>
          <a:xfrm>
            <a:off x="0" y="0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" type="tx">
  <p:cSld name="TITLE_AND_BOD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7"/>
          <p:cNvSpPr/>
          <p:nvPr/>
        </p:nvSpPr>
        <p:spPr>
          <a:xfrm>
            <a:off x="0" y="44125"/>
            <a:ext cx="4313625" cy="4399375"/>
          </a:xfrm>
          <a:custGeom>
            <a:avLst/>
            <a:gdLst/>
            <a:ahLst/>
            <a:cxnLst/>
            <a:rect l="l" t="t" r="r" b="b"/>
            <a:pathLst>
              <a:path w="172545" h="175975" extrusionOk="0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34" name="Google Shape;34;p7"/>
          <p:cNvSpPr/>
          <p:nvPr/>
        </p:nvSpPr>
        <p:spPr>
          <a:xfrm>
            <a:off x="-125" y="0"/>
            <a:ext cx="4316900" cy="4395600"/>
          </a:xfrm>
          <a:custGeom>
            <a:avLst/>
            <a:gdLst/>
            <a:ahLst/>
            <a:cxnLst/>
            <a:rect l="l" t="t" r="r" b="b"/>
            <a:pathLst>
              <a:path w="172676" h="175824" extrusionOk="0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1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TITLE_AND_DESCRIPTION">
  <p:cSld name="SECTION_TITLE_AND_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ubTitle" idx="1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2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_ONLY">
  <p:cSld name="CAPTION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1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_NUMBER">
  <p:cSld name="BIG_NUMBER">
    <p:bg>
      <p:bgPr>
        <a:solidFill>
          <a:schemeClr val="dk1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title" hasCustomPrompt="1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aradigm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 b="0" i="0" u="none" strike="noStrike" cap="non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 b="0" i="0" u="none" strike="noStrike" cap="non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 b="0" i="0" u="none" strike="noStrike" cap="non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 b="0" i="0" u="none" strike="noStrike" cap="non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 b="0" i="0" u="none" strike="noStrike" cap="non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 b="0" i="0" u="none" strike="noStrike" cap="non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 b="0" i="0" u="none" strike="noStrike" cap="non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 b="0" i="0" u="none" strike="noStrike" cap="non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 b="0" i="0" u="none" strike="noStrike" cap="non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 txBox="1"/>
          <p:nvPr/>
        </p:nvSpPr>
        <p:spPr>
          <a:xfrm>
            <a:off x="914400" y="2145607"/>
            <a:ext cx="7315200" cy="8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" name="Google Shape;57;p11"/>
          <p:cNvSpPr txBox="1"/>
          <p:nvPr/>
        </p:nvSpPr>
        <p:spPr>
          <a:xfrm>
            <a:off x="914400" y="2145607"/>
            <a:ext cx="7315200" cy="8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" name="Google Shape;58;p11"/>
          <p:cNvSpPr txBox="1"/>
          <p:nvPr/>
        </p:nvSpPr>
        <p:spPr>
          <a:xfrm>
            <a:off x="914400" y="2145607"/>
            <a:ext cx="7315200" cy="8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11"/>
          <p:cNvSpPr txBox="1"/>
          <p:nvPr/>
        </p:nvSpPr>
        <p:spPr>
          <a:xfrm>
            <a:off x="914400" y="2145607"/>
            <a:ext cx="7315200" cy="8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" name="Google Shape;60;p11"/>
          <p:cNvSpPr txBox="1"/>
          <p:nvPr/>
        </p:nvSpPr>
        <p:spPr>
          <a:xfrm>
            <a:off x="914400" y="2145607"/>
            <a:ext cx="7315200" cy="8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" name="Google Shape;61;p11"/>
          <p:cNvSpPr txBox="1"/>
          <p:nvPr/>
        </p:nvSpPr>
        <p:spPr>
          <a:xfrm>
            <a:off x="914400" y="2145607"/>
            <a:ext cx="7315200" cy="8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" name="Google Shape;62;p11"/>
          <p:cNvSpPr txBox="1"/>
          <p:nvPr/>
        </p:nvSpPr>
        <p:spPr>
          <a:xfrm>
            <a:off x="914400" y="2145607"/>
            <a:ext cx="7315200" cy="8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" name="Google Shape;63;p11"/>
          <p:cNvSpPr txBox="1"/>
          <p:nvPr/>
        </p:nvSpPr>
        <p:spPr>
          <a:xfrm>
            <a:off x="4253811" y="1886125"/>
            <a:ext cx="4467000" cy="853500"/>
          </a:xfrm>
          <a:prstGeom prst="rect">
            <a:avLst/>
          </a:prstGeom>
          <a:noFill/>
          <a:ln w="9525" cap="flat" cmpd="sng">
            <a:solidFill>
              <a:srgbClr val="9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Mentor Name: Indira B Mam</a:t>
            </a:r>
            <a:endParaRPr sz="14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" name="Google Shape;64;p11"/>
          <p:cNvSpPr txBox="1"/>
          <p:nvPr/>
        </p:nvSpPr>
        <p:spPr>
          <a:xfrm>
            <a:off x="1184750" y="1139650"/>
            <a:ext cx="7615500" cy="4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1700"/>
            </a:pPr>
            <a:r>
              <a:rPr lang="en" sz="1700" b="0" i="0" u="none" strike="noStrike" cap="none" dirty="0">
                <a:solidFill>
                  <a:srgbClr val="00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Title: </a:t>
            </a:r>
            <a:r>
              <a:rPr lang="en-US" sz="1800" dirty="0" err="1">
                <a:highlight>
                  <a:srgbClr val="FFFFFF"/>
                </a:highlight>
              </a:rPr>
              <a:t>ProctoEase</a:t>
            </a:r>
            <a:r>
              <a:rPr lang="en-US" sz="1800" dirty="0">
                <a:highlight>
                  <a:srgbClr val="FFFFFF"/>
                </a:highlight>
              </a:rPr>
              <a:t> – Smart Online Assessment &amp; Proctoring Platform</a:t>
            </a:r>
            <a:r>
              <a:rPr lang="en" sz="1700" b="0" i="0" u="none" strike="noStrike" cap="none" dirty="0">
                <a:solidFill>
                  <a:srgbClr val="00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endParaRPr sz="1700" b="0" i="0" u="none" strike="noStrike" cap="none" dirty="0">
              <a:solidFill>
                <a:srgbClr val="000000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" name="Google Shape;65;p11"/>
          <p:cNvSpPr txBox="1"/>
          <p:nvPr/>
        </p:nvSpPr>
        <p:spPr>
          <a:xfrm>
            <a:off x="157407" y="1879710"/>
            <a:ext cx="3761400" cy="1692741"/>
          </a:xfrm>
          <a:prstGeom prst="rect">
            <a:avLst/>
          </a:prstGeom>
          <a:noFill/>
          <a:ln w="9525" cap="flat" cmpd="sng">
            <a:solidFill>
              <a:srgbClr val="9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SzPts val="1400"/>
            </a:pPr>
            <a:r>
              <a:rPr lang="en" sz="1400" b="0" i="0" u="none" strike="noStrike" cap="none" dirty="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Domain: </a:t>
            </a:r>
            <a:r>
              <a:rPr lang="en-US" dirty="0"/>
              <a:t>Web Application Development </a:t>
            </a:r>
            <a:br>
              <a:rPr lang="en-US" dirty="0"/>
            </a:br>
            <a:r>
              <a:rPr lang="en-US" dirty="0"/>
              <a:t>	• AI-Assisted Proctoring </a:t>
            </a:r>
          </a:p>
          <a:p>
            <a:pPr lvl="0">
              <a:buSzPts val="1400"/>
            </a:pPr>
            <a:r>
              <a:rPr lang="en-US" dirty="0"/>
              <a:t>	• Online Examination System</a:t>
            </a:r>
            <a:endParaRPr sz="1400" b="0" i="0" u="none" strike="noStrike" cap="none" dirty="0">
              <a:solidFill>
                <a:srgbClr val="98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 dirty="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Group Members:</a:t>
            </a:r>
            <a:endParaRPr sz="1400" b="0" i="0" u="none" strike="noStrike" cap="none" dirty="0">
              <a:solidFill>
                <a:srgbClr val="98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SzPts val="1400"/>
            </a:pPr>
            <a:r>
              <a:rPr lang="en" sz="1400" b="0" i="0" u="none" strike="noStrike" cap="none" dirty="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Member1 : 	</a:t>
            </a:r>
            <a:r>
              <a:rPr lang="en-IN" dirty="0">
                <a:solidFill>
                  <a:schemeClr val="tx1">
                    <a:lumMod val="50000"/>
                  </a:schemeClr>
                </a:solidFill>
              </a:rPr>
              <a:t>Rahul Bhagwat (03/A)</a:t>
            </a:r>
          </a:p>
          <a:p>
            <a:pPr>
              <a:buSzPts val="1400"/>
            </a:pPr>
            <a:r>
              <a:rPr lang="en" sz="1400" b="0" i="0" u="none" strike="noStrike" cap="none" dirty="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Member2 : </a:t>
            </a:r>
            <a:r>
              <a:rPr lang="en-IN" dirty="0"/>
              <a:t>Sudheer Prajapati (45/A)</a:t>
            </a:r>
            <a:endParaRPr lang="en" sz="1400" b="0" i="0" u="none" strike="noStrike" cap="none" dirty="0">
              <a:solidFill>
                <a:srgbClr val="98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 dirty="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Member3 : </a:t>
            </a:r>
            <a:r>
              <a:rPr lang="en" sz="1400" b="0" i="0" u="none" strike="noStrike" cap="none" dirty="0">
                <a:solidFill>
                  <a:schemeClr val="tx1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Rushikesh yadav (61/A)</a:t>
            </a:r>
            <a:endParaRPr sz="1400" b="0" i="0" u="none" strike="noStrike" cap="none" dirty="0">
              <a:solidFill>
                <a:schemeClr val="tx1">
                  <a:lumMod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1"/>
          <p:cNvSpPr txBox="1"/>
          <p:nvPr/>
        </p:nvSpPr>
        <p:spPr>
          <a:xfrm>
            <a:off x="1204700" y="185159"/>
            <a:ext cx="7575600" cy="7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Vivekanand Education Society’s Institute Of Technology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Master of Computer Applications</a:t>
            </a:r>
            <a:endParaRPr dirty="0"/>
          </a:p>
          <a:p>
            <a:pPr marL="182880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" sz="19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Review I</a:t>
            </a:r>
            <a:endParaRPr sz="9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endParaRPr sz="20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7" name="Google Shape;67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000" y="0"/>
            <a:ext cx="846391" cy="125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2"/>
          <p:cNvSpPr txBox="1">
            <a:spLocks noGrp="1"/>
          </p:cNvSpPr>
          <p:nvPr>
            <p:ph type="title"/>
          </p:nvPr>
        </p:nvSpPr>
        <p:spPr>
          <a:xfrm>
            <a:off x="311700" y="364600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solidFill>
                  <a:srgbClr val="FFFF00"/>
                </a:solidFill>
              </a:rPr>
              <a:t>Content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73" name="Google Shape;73;p12"/>
          <p:cNvSpPr txBox="1">
            <a:spLocks noGrp="1"/>
          </p:cNvSpPr>
          <p:nvPr>
            <p:ph type="body" idx="1"/>
          </p:nvPr>
        </p:nvSpPr>
        <p:spPr>
          <a:xfrm>
            <a:off x="311725" y="1291450"/>
            <a:ext cx="7763700" cy="3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8895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AutoNum type="arabicPeriod"/>
            </a:pPr>
            <a:r>
              <a:rPr lang="en">
                <a:solidFill>
                  <a:schemeClr val="dk1"/>
                </a:solidFill>
              </a:rPr>
              <a:t>Introduction to the project </a:t>
            </a:r>
            <a:endParaRPr/>
          </a:p>
          <a:p>
            <a:pPr marL="48895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AutoNum type="arabicPeriod"/>
            </a:pPr>
            <a:r>
              <a:rPr lang="en">
                <a:solidFill>
                  <a:schemeClr val="dk1"/>
                </a:solidFill>
              </a:rPr>
              <a:t>Problem Statement</a:t>
            </a:r>
            <a:endParaRPr/>
          </a:p>
          <a:p>
            <a:pPr marL="48895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AutoNum type="arabicPeriod"/>
            </a:pPr>
            <a:r>
              <a:rPr lang="en">
                <a:solidFill>
                  <a:schemeClr val="dk1"/>
                </a:solidFill>
              </a:rPr>
              <a:t>Objectives of the project </a:t>
            </a:r>
            <a:endParaRPr/>
          </a:p>
          <a:p>
            <a:pPr marL="48895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AutoNum type="arabicPeriod"/>
            </a:pPr>
            <a:r>
              <a:rPr lang="en">
                <a:solidFill>
                  <a:schemeClr val="dk1"/>
                </a:solidFill>
              </a:rPr>
              <a:t>Requirements of the system (Hardware, software) </a:t>
            </a:r>
            <a:endParaRPr>
              <a:solidFill>
                <a:schemeClr val="dk1"/>
              </a:solidFill>
            </a:endParaRPr>
          </a:p>
          <a:p>
            <a:pPr marL="48895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AutoNum type="arabicPeriod"/>
            </a:pPr>
            <a:r>
              <a:rPr lang="en">
                <a:solidFill>
                  <a:schemeClr val="dk1"/>
                </a:solidFill>
              </a:rPr>
              <a:t>System Design</a:t>
            </a:r>
            <a:endParaRPr>
              <a:solidFill>
                <a:schemeClr val="dk1"/>
              </a:solidFill>
            </a:endParaRPr>
          </a:p>
          <a:p>
            <a:pPr marL="48895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">
                <a:solidFill>
                  <a:schemeClr val="dk1"/>
                </a:solidFill>
              </a:rPr>
              <a:t>Front End</a:t>
            </a:r>
            <a:endParaRPr>
              <a:solidFill>
                <a:schemeClr val="dk1"/>
              </a:solidFill>
            </a:endParaRPr>
          </a:p>
          <a:p>
            <a:pPr marL="48895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AutoNum type="arabicPeriod"/>
            </a:pPr>
            <a:r>
              <a:rPr lang="en">
                <a:solidFill>
                  <a:schemeClr val="dk1"/>
                </a:solidFill>
              </a:rPr>
              <a:t>Implementation</a:t>
            </a:r>
            <a:endParaRPr>
              <a:solidFill>
                <a:schemeClr val="dk1"/>
              </a:solidFill>
            </a:endParaRPr>
          </a:p>
          <a:p>
            <a:pPr marL="48895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">
                <a:solidFill>
                  <a:schemeClr val="dk1"/>
                </a:solidFill>
              </a:rPr>
              <a:t>Gantt Chart</a:t>
            </a:r>
            <a:endParaRPr>
              <a:solidFill>
                <a:schemeClr val="dk1"/>
              </a:solidFill>
            </a:endParaRPr>
          </a:p>
          <a:p>
            <a:pPr marL="48895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AutoNum type="arabicPeriod"/>
            </a:pPr>
            <a:r>
              <a:rPr lang="en">
                <a:solidFill>
                  <a:schemeClr val="dk1"/>
                </a:solidFill>
              </a:rPr>
              <a:t>Conclusion </a:t>
            </a:r>
            <a:endParaRPr>
              <a:solidFill>
                <a:schemeClr val="dk1"/>
              </a:solidFill>
            </a:endParaRPr>
          </a:p>
          <a:p>
            <a:pPr marL="48895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">
                <a:solidFill>
                  <a:schemeClr val="dk1"/>
                </a:solidFill>
              </a:rPr>
              <a:t>References</a:t>
            </a:r>
            <a:endParaRPr>
              <a:solidFill>
                <a:schemeClr val="dk1"/>
              </a:solidFill>
            </a:endParaRPr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endParaRPr/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endParaRPr/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3"/>
          <p:cNvSpPr txBox="1">
            <a:spLocks noGrp="1"/>
          </p:cNvSpPr>
          <p:nvPr>
            <p:ph type="title"/>
          </p:nvPr>
        </p:nvSpPr>
        <p:spPr>
          <a:xfrm>
            <a:off x="311700" y="302600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dirty="0">
                <a:solidFill>
                  <a:srgbClr val="FFFF00"/>
                </a:solidFill>
              </a:rPr>
              <a:t>Introduction to Project</a:t>
            </a:r>
            <a:endParaRPr dirty="0">
              <a:solidFill>
                <a:srgbClr val="FFFF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dirty="0"/>
          </a:p>
        </p:txBody>
      </p:sp>
      <p:sp>
        <p:nvSpPr>
          <p:cNvPr id="79" name="Google Shape;79;p13"/>
          <p:cNvSpPr txBox="1">
            <a:spLocks noGrp="1"/>
          </p:cNvSpPr>
          <p:nvPr>
            <p:ph type="body" idx="4294967295"/>
          </p:nvPr>
        </p:nvSpPr>
        <p:spPr>
          <a:xfrm>
            <a:off x="311700" y="1529225"/>
            <a:ext cx="8520600" cy="3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 Rates</a:t>
            </a:r>
            <a:endParaRPr sz="14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80" name="Google Shape;80;p13"/>
          <p:cNvSpPr txBox="1"/>
          <p:nvPr/>
        </p:nvSpPr>
        <p:spPr>
          <a:xfrm>
            <a:off x="1369725" y="3731725"/>
            <a:ext cx="7100100" cy="4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" name="Google Shape;81;p13"/>
          <p:cNvSpPr txBox="1">
            <a:spLocks noGrp="1"/>
          </p:cNvSpPr>
          <p:nvPr>
            <p:ph type="body" idx="4294967295"/>
          </p:nvPr>
        </p:nvSpPr>
        <p:spPr>
          <a:xfrm>
            <a:off x="79650" y="1344875"/>
            <a:ext cx="8984700" cy="38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900" dirty="0">
              <a:solidFill>
                <a:srgbClr val="000000"/>
              </a:solidFill>
            </a:endParaRPr>
          </a:p>
          <a:p>
            <a:pPr marL="342900" lvl="0" indent="-342900">
              <a:lnSpc>
                <a:spcPct val="150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tx1">
                    <a:lumMod val="50000"/>
                  </a:schemeClr>
                </a:solidFill>
              </a:rPr>
              <a:t>ProctoEase</a:t>
            </a:r>
            <a:r>
              <a:rPr lang="en-US" sz="1800" dirty="0">
                <a:solidFill>
                  <a:schemeClr val="tx1">
                    <a:lumMod val="50000"/>
                  </a:schemeClr>
                </a:solidFill>
              </a:rPr>
              <a:t> is a </a:t>
            </a:r>
            <a:r>
              <a:rPr lang="en-US" sz="1800" b="1" dirty="0">
                <a:solidFill>
                  <a:schemeClr val="tx1">
                    <a:lumMod val="50000"/>
                  </a:schemeClr>
                </a:solidFill>
              </a:rPr>
              <a:t>web-based assessment and proctoring platform</a:t>
            </a:r>
            <a:r>
              <a:rPr lang="en-US" sz="1800" dirty="0">
                <a:solidFill>
                  <a:schemeClr val="tx1">
                    <a:lumMod val="50000"/>
                  </a:schemeClr>
                </a:solidFill>
              </a:rPr>
              <a:t> designed for recruiters, institutes, and training centers. It allows organizations to conduct </a:t>
            </a:r>
            <a:r>
              <a:rPr lang="en-US" sz="1800" b="1" dirty="0">
                <a:solidFill>
                  <a:schemeClr val="tx1">
                    <a:lumMod val="50000"/>
                  </a:schemeClr>
                </a:solidFill>
              </a:rPr>
              <a:t>MCQ tests</a:t>
            </a:r>
            <a:r>
              <a:rPr lang="en-US" sz="1800" dirty="0">
                <a:solidFill>
                  <a:schemeClr val="tx1">
                    <a:lumMod val="50000"/>
                  </a:schemeClr>
                </a:solidFill>
              </a:rPr>
              <a:t>, </a:t>
            </a:r>
            <a:r>
              <a:rPr lang="en-US" sz="1800" b="1" dirty="0">
                <a:solidFill>
                  <a:schemeClr val="tx1">
                    <a:lumMod val="50000"/>
                  </a:schemeClr>
                </a:solidFill>
              </a:rPr>
              <a:t>coding tests</a:t>
            </a:r>
            <a:r>
              <a:rPr lang="en-US" sz="1800" dirty="0">
                <a:solidFill>
                  <a:schemeClr val="tx1">
                    <a:lumMod val="50000"/>
                  </a:schemeClr>
                </a:solidFill>
              </a:rPr>
              <a:t>, and </a:t>
            </a:r>
            <a:r>
              <a:rPr lang="en-US" sz="1800" b="1" dirty="0">
                <a:solidFill>
                  <a:schemeClr val="tx1">
                    <a:lumMod val="50000"/>
                  </a:schemeClr>
                </a:solidFill>
              </a:rPr>
              <a:t>AI-assisted remote proctoring</a:t>
            </a:r>
            <a:r>
              <a:rPr lang="en-US" sz="1800" dirty="0">
                <a:solidFill>
                  <a:schemeClr val="tx1">
                    <a:lumMod val="50000"/>
                  </a:schemeClr>
                </a:solidFill>
              </a:rPr>
              <a:t> using browser technologies.</a:t>
            </a:r>
          </a:p>
          <a:p>
            <a:pPr marL="342900" lvl="0" indent="-342900">
              <a:lnSpc>
                <a:spcPct val="150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>
                    <a:lumMod val="50000"/>
                  </a:schemeClr>
                </a:solidFill>
              </a:rPr>
              <a:t>It ensures </a:t>
            </a:r>
            <a:r>
              <a:rPr lang="en-US" sz="1800" b="1" dirty="0">
                <a:solidFill>
                  <a:schemeClr val="tx1">
                    <a:lumMod val="50000"/>
                  </a:schemeClr>
                </a:solidFill>
              </a:rPr>
              <a:t>fairness</a:t>
            </a:r>
            <a:r>
              <a:rPr lang="en-US" sz="1800" dirty="0">
                <a:solidFill>
                  <a:schemeClr val="tx1">
                    <a:lumMod val="50000"/>
                  </a:schemeClr>
                </a:solidFill>
              </a:rPr>
              <a:t>, </a:t>
            </a:r>
            <a:r>
              <a:rPr lang="en-US" sz="1800" b="1" dirty="0">
                <a:solidFill>
                  <a:schemeClr val="tx1">
                    <a:lumMod val="50000"/>
                  </a:schemeClr>
                </a:solidFill>
              </a:rPr>
              <a:t>transparency</a:t>
            </a:r>
            <a:r>
              <a:rPr lang="en-US" sz="1800" dirty="0">
                <a:solidFill>
                  <a:schemeClr val="tx1">
                    <a:lumMod val="50000"/>
                  </a:schemeClr>
                </a:solidFill>
              </a:rPr>
              <a:t>, and </a:t>
            </a:r>
            <a:r>
              <a:rPr lang="en-US" sz="1800" b="1" dirty="0">
                <a:solidFill>
                  <a:schemeClr val="tx1">
                    <a:lumMod val="50000"/>
                  </a:schemeClr>
                </a:solidFill>
              </a:rPr>
              <a:t>security</a:t>
            </a:r>
            <a:r>
              <a:rPr lang="en-US" sz="1800" dirty="0">
                <a:solidFill>
                  <a:schemeClr val="tx1">
                    <a:lumMod val="50000"/>
                  </a:schemeClr>
                </a:solidFill>
              </a:rPr>
              <a:t> in online examinations by detecting cheating behaviors like </a:t>
            </a:r>
            <a:r>
              <a:rPr lang="en-US" sz="1800" b="1" dirty="0">
                <a:solidFill>
                  <a:schemeClr val="tx1">
                    <a:lumMod val="50000"/>
                  </a:schemeClr>
                </a:solidFill>
              </a:rPr>
              <a:t>face absence, tab switching, audio spikes, IP changes</a:t>
            </a:r>
            <a:r>
              <a:rPr lang="en-US" sz="1800" dirty="0">
                <a:solidFill>
                  <a:schemeClr val="tx1">
                    <a:lumMod val="50000"/>
                  </a:schemeClr>
                </a:solidFill>
              </a:rPr>
              <a:t>, and generating a </a:t>
            </a:r>
            <a:r>
              <a:rPr lang="en-US" sz="1800" b="1" dirty="0">
                <a:solidFill>
                  <a:schemeClr val="tx1">
                    <a:lumMod val="50000"/>
                  </a:schemeClr>
                </a:solidFill>
              </a:rPr>
              <a:t>Proctor Risk Score</a:t>
            </a:r>
            <a:r>
              <a:rPr lang="en-US" sz="1800" dirty="0">
                <a:solidFill>
                  <a:schemeClr val="tx1">
                    <a:lumMod val="50000"/>
                  </a:schemeClr>
                </a:solidFill>
              </a:rPr>
              <a:t>.</a:t>
            </a:r>
            <a:endParaRPr sz="1800" dirty="0">
              <a:solidFill>
                <a:schemeClr val="tx1">
                  <a:lumMod val="50000"/>
                </a:schemeClr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900" dirty="0">
              <a:solidFill>
                <a:srgbClr val="000000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9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900" dirty="0"/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900" dirty="0">
              <a:solidFill>
                <a:srgbClr val="000000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9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endParaRPr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>
            <a:spLocks noGrp="1"/>
          </p:cNvSpPr>
          <p:nvPr>
            <p:ph type="title"/>
          </p:nvPr>
        </p:nvSpPr>
        <p:spPr>
          <a:xfrm>
            <a:off x="311700" y="302600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solidFill>
                  <a:srgbClr val="FFFF00"/>
                </a:solidFill>
              </a:rPr>
              <a:t>Problem Statement</a:t>
            </a:r>
            <a:endParaRPr>
              <a:solidFill>
                <a:srgbClr val="FFFF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sp>
        <p:nvSpPr>
          <p:cNvPr id="87" name="Google Shape;87;p14"/>
          <p:cNvSpPr txBox="1">
            <a:spLocks noGrp="1"/>
          </p:cNvSpPr>
          <p:nvPr>
            <p:ph type="body" idx="4294967295"/>
          </p:nvPr>
        </p:nvSpPr>
        <p:spPr>
          <a:xfrm>
            <a:off x="311700" y="1529225"/>
            <a:ext cx="8520600" cy="3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 Rates</a:t>
            </a:r>
            <a:endParaRPr sz="14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88" name="Google Shape;88;p14"/>
          <p:cNvSpPr txBox="1"/>
          <p:nvPr/>
        </p:nvSpPr>
        <p:spPr>
          <a:xfrm>
            <a:off x="1369725" y="3731725"/>
            <a:ext cx="7100100" cy="4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" name="Google Shape;89;p14"/>
          <p:cNvSpPr txBox="1">
            <a:spLocks noGrp="1"/>
          </p:cNvSpPr>
          <p:nvPr>
            <p:ph type="body" idx="4294967295"/>
          </p:nvPr>
        </p:nvSpPr>
        <p:spPr>
          <a:xfrm>
            <a:off x="79650" y="1344875"/>
            <a:ext cx="8984700" cy="38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endParaRPr sz="1800" dirty="0">
              <a:solidFill>
                <a:srgbClr val="000000"/>
              </a:solidFill>
            </a:endParaRPr>
          </a:p>
          <a:p>
            <a:pPr marL="146050" indent="0">
              <a:lnSpc>
                <a:spcPct val="150000"/>
              </a:lnSpc>
              <a:buNone/>
            </a:pPr>
            <a:r>
              <a:rPr lang="en-US" sz="1600" dirty="0">
                <a:solidFill>
                  <a:schemeClr val="tx1">
                    <a:lumMod val="50000"/>
                  </a:schemeClr>
                </a:solidFill>
              </a:rPr>
              <a:t>Existing assessment platforms like Mercer Mettl and </a:t>
            </a:r>
            <a:r>
              <a:rPr lang="en-US" sz="1600" dirty="0" err="1">
                <a:solidFill>
                  <a:schemeClr val="tx1">
                    <a:lumMod val="50000"/>
                  </a:schemeClr>
                </a:solidFill>
              </a:rPr>
              <a:t>Talview</a:t>
            </a:r>
            <a:r>
              <a:rPr lang="en-US" sz="1600" dirty="0">
                <a:solidFill>
                  <a:schemeClr val="tx1">
                    <a:lumMod val="50000"/>
                  </a:schemeClr>
                </a:solidFill>
              </a:rPr>
              <a:t> are: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1">
                    <a:lumMod val="50000"/>
                  </a:schemeClr>
                </a:solidFill>
              </a:rPr>
              <a:t>Too </a:t>
            </a:r>
            <a:r>
              <a:rPr lang="en-US" sz="1600" b="1" dirty="0">
                <a:solidFill>
                  <a:schemeClr val="tx1">
                    <a:lumMod val="50000"/>
                  </a:schemeClr>
                </a:solidFill>
              </a:rPr>
              <a:t>expensive</a:t>
            </a:r>
            <a:r>
              <a:rPr lang="en-US" sz="1600" dirty="0">
                <a:solidFill>
                  <a:schemeClr val="tx1">
                    <a:lumMod val="50000"/>
                  </a:schemeClr>
                </a:solidFill>
              </a:rPr>
              <a:t> for small institutes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tx1">
                    <a:lumMod val="50000"/>
                  </a:schemeClr>
                </a:solidFill>
              </a:rPr>
              <a:t>Complex</a:t>
            </a:r>
            <a:r>
              <a:rPr lang="en-US" sz="1600" dirty="0">
                <a:solidFill>
                  <a:schemeClr val="tx1">
                    <a:lumMod val="50000"/>
                  </a:schemeClr>
                </a:solidFill>
              </a:rPr>
              <a:t> to use and maintain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1">
                    <a:lumMod val="50000"/>
                  </a:schemeClr>
                </a:solidFill>
              </a:rPr>
              <a:t>Not transparent with proctoring rules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1">
                    <a:lumMod val="50000"/>
                  </a:schemeClr>
                </a:solidFill>
              </a:rPr>
              <a:t>Heavy on resource usage (continuous video recording)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1">
                    <a:lumMod val="50000"/>
                  </a:schemeClr>
                </a:solidFill>
              </a:rPr>
              <a:t>Do not integrate coding execution + plagiarism detection in one platform</a:t>
            </a:r>
          </a:p>
          <a:p>
            <a:pPr marL="146050" indent="0">
              <a:lnSpc>
                <a:spcPct val="150000"/>
              </a:lnSpc>
              <a:buNone/>
            </a:pPr>
            <a:r>
              <a:rPr lang="en-US" sz="1600" dirty="0">
                <a:solidFill>
                  <a:schemeClr val="tx1">
                    <a:lumMod val="50000"/>
                  </a:schemeClr>
                </a:solidFill>
              </a:rPr>
              <a:t>So, there is a need for a </a:t>
            </a:r>
            <a:r>
              <a:rPr lang="en-US" sz="1600" b="1" dirty="0">
                <a:solidFill>
                  <a:schemeClr val="tx1">
                    <a:lumMod val="50000"/>
                  </a:schemeClr>
                </a:solidFill>
              </a:rPr>
              <a:t>lightweight, affordable, transparent, and AI-assisted</a:t>
            </a:r>
            <a:r>
              <a:rPr lang="en-US" sz="1600" dirty="0">
                <a:solidFill>
                  <a:schemeClr val="tx1">
                    <a:lumMod val="50000"/>
                  </a:schemeClr>
                </a:solidFill>
              </a:rPr>
              <a:t> proctoring system.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endParaRPr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 txBox="1">
            <a:spLocks noGrp="1"/>
          </p:cNvSpPr>
          <p:nvPr>
            <p:ph type="title"/>
          </p:nvPr>
        </p:nvSpPr>
        <p:spPr>
          <a:xfrm>
            <a:off x="311700" y="302600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solidFill>
                  <a:srgbClr val="FFFF00"/>
                </a:solidFill>
              </a:rPr>
              <a:t>Objectives of the project</a:t>
            </a:r>
            <a:endParaRPr>
              <a:solidFill>
                <a:srgbClr val="FFFF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sp>
        <p:nvSpPr>
          <p:cNvPr id="95" name="Google Shape;95;p15"/>
          <p:cNvSpPr txBox="1">
            <a:spLocks noGrp="1"/>
          </p:cNvSpPr>
          <p:nvPr>
            <p:ph type="body" idx="4294967295"/>
          </p:nvPr>
        </p:nvSpPr>
        <p:spPr>
          <a:xfrm>
            <a:off x="311700" y="1529225"/>
            <a:ext cx="8520600" cy="3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2" anchor="t" anchorCtr="0">
            <a:noAutofit/>
          </a:bodyPr>
          <a:lstStyle/>
          <a:p>
            <a:pPr marL="146050" indent="0">
              <a:lnSpc>
                <a:spcPct val="150000"/>
              </a:lnSpc>
              <a:buNone/>
            </a:pPr>
            <a:r>
              <a:rPr lang="en-IN" sz="1800" b="1" dirty="0">
                <a:solidFill>
                  <a:schemeClr val="tx1">
                    <a:lumMod val="50000"/>
                  </a:schemeClr>
                </a:solidFill>
              </a:rPr>
              <a:t>Primary Objectives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solidFill>
                  <a:schemeClr val="tx1">
                    <a:lumMod val="50000"/>
                  </a:schemeClr>
                </a:solidFill>
              </a:rPr>
              <a:t>Conduct secure </a:t>
            </a:r>
            <a:r>
              <a:rPr lang="en-IN" sz="1600" b="1" dirty="0">
                <a:solidFill>
                  <a:schemeClr val="tx1">
                    <a:lumMod val="50000"/>
                  </a:schemeClr>
                </a:solidFill>
              </a:rPr>
              <a:t>MCQ &amp; coding tests</a:t>
            </a:r>
            <a:endParaRPr lang="en-IN" sz="1600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IN" sz="1600" dirty="0">
                <a:solidFill>
                  <a:schemeClr val="tx1">
                    <a:lumMod val="50000"/>
                  </a:schemeClr>
                </a:solidFill>
              </a:rPr>
              <a:t>Implement </a:t>
            </a:r>
            <a:r>
              <a:rPr lang="en-IN" sz="1600" b="1" dirty="0">
                <a:solidFill>
                  <a:schemeClr val="tx1">
                    <a:lumMod val="50000"/>
                  </a:schemeClr>
                </a:solidFill>
              </a:rPr>
              <a:t>browser-based AI proctoring</a:t>
            </a:r>
            <a:endParaRPr lang="en-IN" sz="1600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IN" sz="1600" dirty="0">
                <a:solidFill>
                  <a:schemeClr val="tx1">
                    <a:lumMod val="50000"/>
                  </a:schemeClr>
                </a:solidFill>
              </a:rPr>
              <a:t>Log suspicious activities with </a:t>
            </a:r>
            <a:r>
              <a:rPr lang="en-IN" sz="1600" b="1" dirty="0">
                <a:solidFill>
                  <a:schemeClr val="tx1">
                    <a:lumMod val="50000"/>
                  </a:schemeClr>
                </a:solidFill>
              </a:rPr>
              <a:t>snapshots</a:t>
            </a:r>
            <a:endParaRPr lang="en-IN" sz="1600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IN" sz="1600" dirty="0">
                <a:solidFill>
                  <a:schemeClr val="tx1">
                    <a:lumMod val="50000"/>
                  </a:schemeClr>
                </a:solidFill>
              </a:rPr>
              <a:t>Generate </a:t>
            </a:r>
            <a:r>
              <a:rPr lang="en-IN" sz="1600" b="1" dirty="0">
                <a:solidFill>
                  <a:schemeClr val="tx1">
                    <a:lumMod val="50000"/>
                  </a:schemeClr>
                </a:solidFill>
              </a:rPr>
              <a:t>explainable Proctor Risk Scores</a:t>
            </a:r>
            <a:endParaRPr lang="en-IN" sz="1600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IN" sz="1600" dirty="0">
                <a:solidFill>
                  <a:schemeClr val="tx1">
                    <a:lumMod val="50000"/>
                  </a:schemeClr>
                </a:solidFill>
              </a:rPr>
              <a:t>Support </a:t>
            </a:r>
            <a:r>
              <a:rPr lang="en-IN" sz="1600" b="1" dirty="0">
                <a:solidFill>
                  <a:schemeClr val="tx1">
                    <a:lumMod val="50000"/>
                  </a:schemeClr>
                </a:solidFill>
              </a:rPr>
              <a:t>multi-tenancy</a:t>
            </a:r>
            <a:r>
              <a:rPr lang="en-IN" sz="1600" dirty="0">
                <a:solidFill>
                  <a:schemeClr val="tx1">
                    <a:lumMod val="50000"/>
                  </a:schemeClr>
                </a:solidFill>
              </a:rPr>
              <a:t> for multiple organizations</a:t>
            </a:r>
          </a:p>
          <a:p>
            <a:pPr marL="146050" indent="0">
              <a:lnSpc>
                <a:spcPct val="150000"/>
              </a:lnSpc>
              <a:buNone/>
            </a:pPr>
            <a:endParaRPr lang="en-US" sz="1600" b="1" dirty="0">
              <a:solidFill>
                <a:schemeClr val="tx1">
                  <a:lumMod val="50000"/>
                </a:schemeClr>
              </a:solidFill>
            </a:endParaRPr>
          </a:p>
          <a:p>
            <a:pPr marL="146050" indent="0">
              <a:lnSpc>
                <a:spcPct val="150000"/>
              </a:lnSpc>
              <a:buNone/>
            </a:pPr>
            <a:r>
              <a:rPr lang="en-US" sz="1800" b="1" dirty="0">
                <a:solidFill>
                  <a:schemeClr val="tx1">
                    <a:lumMod val="50000"/>
                  </a:schemeClr>
                </a:solidFill>
              </a:rPr>
              <a:t>Secondary Objectives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1">
                    <a:lumMod val="50000"/>
                  </a:schemeClr>
                </a:solidFill>
              </a:rPr>
              <a:t>Offline answer saving</a:t>
            </a:r>
          </a:p>
          <a:p>
            <a:pPr>
              <a:lnSpc>
                <a:spcPct val="150000"/>
              </a:lnSpc>
            </a:pPr>
            <a:r>
              <a:rPr lang="en-US" sz="1600" dirty="0" err="1">
                <a:solidFill>
                  <a:schemeClr val="tx1">
                    <a:lumMod val="50000"/>
                  </a:schemeClr>
                </a:solidFill>
              </a:rPr>
              <a:t>JPlag</a:t>
            </a:r>
            <a:r>
              <a:rPr lang="en-US" sz="1600" dirty="0">
                <a:solidFill>
                  <a:schemeClr val="tx1">
                    <a:lumMod val="50000"/>
                  </a:schemeClr>
                </a:solidFill>
              </a:rPr>
              <a:t>/</a:t>
            </a:r>
            <a:r>
              <a:rPr lang="en-US" sz="1600" dirty="0" err="1">
                <a:solidFill>
                  <a:schemeClr val="tx1">
                    <a:lumMod val="50000"/>
                  </a:schemeClr>
                </a:solidFill>
              </a:rPr>
              <a:t>MinHash</a:t>
            </a:r>
            <a:r>
              <a:rPr lang="en-US" sz="1600" dirty="0">
                <a:solidFill>
                  <a:schemeClr val="tx1">
                    <a:lumMod val="50000"/>
                  </a:schemeClr>
                </a:solidFill>
              </a:rPr>
              <a:t> plagiarism detection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1">
                    <a:lumMod val="50000"/>
                  </a:schemeClr>
                </a:solidFill>
              </a:rPr>
              <a:t>Judge0-based code execution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1">
                    <a:lumMod val="50000"/>
                  </a:schemeClr>
                </a:solidFill>
              </a:rPr>
              <a:t>Recruiter dashboards and exportable reports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1">
                    <a:lumMod val="50000"/>
                  </a:schemeClr>
                </a:solidFill>
              </a:rPr>
              <a:t>Audit logs &amp; accessibility features</a:t>
            </a:r>
          </a:p>
          <a:p>
            <a:pPr marL="4572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Rates</a:t>
            </a:r>
            <a:endParaRPr sz="1200" dirty="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96" name="Google Shape;96;p15"/>
          <p:cNvSpPr txBox="1"/>
          <p:nvPr/>
        </p:nvSpPr>
        <p:spPr>
          <a:xfrm>
            <a:off x="1369725" y="3731725"/>
            <a:ext cx="7100100" cy="4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 txBox="1">
            <a:spLocks noGrp="1"/>
          </p:cNvSpPr>
          <p:nvPr>
            <p:ph type="title"/>
          </p:nvPr>
        </p:nvSpPr>
        <p:spPr>
          <a:xfrm>
            <a:off x="311725" y="222650"/>
            <a:ext cx="8520600" cy="9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solidFill>
                  <a:srgbClr val="FFFF00"/>
                </a:solidFill>
              </a:rPr>
              <a:t>Requirements of the system (Hardware, software)</a:t>
            </a:r>
            <a:endParaRPr>
              <a:solidFill>
                <a:srgbClr val="FFFF00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>
              <a:solidFill>
                <a:srgbClr val="FFFF00"/>
              </a:solidFill>
            </a:endParaRPr>
          </a:p>
        </p:txBody>
      </p:sp>
      <p:sp>
        <p:nvSpPr>
          <p:cNvPr id="102" name="Google Shape;102;p16"/>
          <p:cNvSpPr txBox="1"/>
          <p:nvPr/>
        </p:nvSpPr>
        <p:spPr>
          <a:xfrm>
            <a:off x="230050" y="1304824"/>
            <a:ext cx="8705794" cy="4062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2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IN" sz="1800" b="1" dirty="0"/>
              <a:t>Software Requirements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/>
              <a:t>Frontend:</a:t>
            </a:r>
            <a:r>
              <a:rPr lang="en-IN" sz="1600" dirty="0"/>
              <a:t> React + TypeScript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/>
              <a:t>Backend:</a:t>
            </a:r>
            <a:r>
              <a:rPr lang="en-IN" sz="1600" dirty="0"/>
              <a:t> </a:t>
            </a:r>
            <a:r>
              <a:rPr lang="en-IN" sz="1600" dirty="0" err="1"/>
              <a:t>FastAPI</a:t>
            </a:r>
            <a:r>
              <a:rPr lang="en-IN" sz="1600" dirty="0"/>
              <a:t>, Python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/>
              <a:t>Database:</a:t>
            </a:r>
            <a:r>
              <a:rPr lang="en-IN" sz="1600" dirty="0"/>
              <a:t> PostgreSQL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/>
              <a:t>Proctoring:</a:t>
            </a:r>
            <a:r>
              <a:rPr lang="en-IN" sz="1600" dirty="0"/>
              <a:t> </a:t>
            </a:r>
            <a:r>
              <a:rPr lang="en-IN" sz="1600" dirty="0" err="1"/>
              <a:t>MediaPipe</a:t>
            </a:r>
            <a:r>
              <a:rPr lang="en-IN" sz="1600" dirty="0"/>
              <a:t> / face-api.js, WebRTC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/>
              <a:t>Code Execution:</a:t>
            </a:r>
            <a:r>
              <a:rPr lang="en-IN" sz="1600" dirty="0"/>
              <a:t> Judge0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/>
              <a:t>Plagiarism Tool:</a:t>
            </a:r>
            <a:r>
              <a:rPr lang="en-IN" sz="1600" dirty="0"/>
              <a:t> </a:t>
            </a:r>
            <a:r>
              <a:rPr lang="en-IN" sz="1600" dirty="0" err="1"/>
              <a:t>JPlag</a:t>
            </a:r>
            <a:r>
              <a:rPr lang="en-IN" sz="1600" dirty="0"/>
              <a:t> / </a:t>
            </a:r>
            <a:r>
              <a:rPr lang="en-IN" sz="1600" dirty="0" err="1"/>
              <a:t>MinHash</a:t>
            </a:r>
            <a:endParaRPr lang="en-IN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/>
              <a:t>Others:</a:t>
            </a:r>
            <a:r>
              <a:rPr lang="en-IN" sz="1600" dirty="0"/>
              <a:t> Redis, Celery, S3/</a:t>
            </a:r>
            <a:r>
              <a:rPr lang="en-IN" sz="1600" dirty="0" err="1"/>
              <a:t>MinIO</a:t>
            </a:r>
            <a:r>
              <a:rPr lang="en-IN" sz="1600" dirty="0"/>
              <a:t> for storage</a:t>
            </a:r>
          </a:p>
          <a:p>
            <a:pPr>
              <a:lnSpc>
                <a:spcPct val="150000"/>
              </a:lnSpc>
            </a:pPr>
            <a:r>
              <a:rPr lang="en-US" sz="1800" b="1" dirty="0"/>
              <a:t>Hardware Requirements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Laptop/PC with webcam &amp; microphone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Minimum 4GB RAM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Stable internet connection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1800" b="0" i="0" u="none" strike="noStrike" cap="none" dirty="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lem Statement</a:t>
            </a:r>
            <a:endParaRPr sz="1800" b="0" i="0" u="none" strike="noStrike" cap="none" dirty="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1800" b="0" i="0" u="none" strike="noStrike" cap="none" dirty="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Problem Statement</a:t>
            </a:r>
            <a:endParaRPr sz="1800" b="0" i="0" u="none" strike="noStrike" cap="none" dirty="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dirty="0">
                <a:solidFill>
                  <a:srgbClr val="FFFF00"/>
                </a:solidFill>
              </a:rPr>
              <a:t>System Design of the proposed system</a:t>
            </a:r>
            <a:endParaRPr dirty="0">
              <a:solidFill>
                <a:srgbClr val="FFFF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D98D34-3560-DE31-E36C-703772CFB9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965" y="1331314"/>
            <a:ext cx="6735337" cy="36768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dirty="0">
                <a:solidFill>
                  <a:srgbClr val="FFFF00"/>
                </a:solidFill>
              </a:rPr>
              <a:t>Front End</a:t>
            </a:r>
            <a:endParaRPr dirty="0">
              <a:solidFill>
                <a:srgbClr val="FFFF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96E56B-6FC5-7A12-A8C8-22EF1C759B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5698" y="1455322"/>
            <a:ext cx="6118302" cy="34669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35E7B23-ED09-4EF8-051C-2A049E4335A8}"/>
              </a:ext>
            </a:extLst>
          </p:cNvPr>
          <p:cNvSpPr txBox="1"/>
          <p:nvPr/>
        </p:nvSpPr>
        <p:spPr>
          <a:xfrm>
            <a:off x="148683" y="1455322"/>
            <a:ext cx="3635297" cy="3954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800" b="1" dirty="0"/>
              <a:t>Home Page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Clean, modern landing page design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Highlights AI proctoring, coding tests, and transparent reports.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Displays candidate test preview (face detection, tab switch alerts).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Shows recruiter dashboard summary (risk score, analytics, evidence timeline).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Designed for responsive experience using React + </a:t>
            </a:r>
            <a:r>
              <a:rPr lang="en-IN" dirty="0" err="1"/>
              <a:t>TailwindCSS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solidFill>
                  <a:srgbClr val="FFFF00"/>
                </a:solidFill>
              </a:rPr>
              <a:t>Implementation</a:t>
            </a:r>
            <a:endParaRPr>
              <a:solidFill>
                <a:srgbClr val="FFFF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D172AB9-0637-823E-D28B-4093FEBE76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5698" y="1455322"/>
            <a:ext cx="6118302" cy="346690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58609D7-BD36-19A5-2725-CAB63493F674}"/>
              </a:ext>
            </a:extLst>
          </p:cNvPr>
          <p:cNvSpPr txBox="1"/>
          <p:nvPr/>
        </p:nvSpPr>
        <p:spPr>
          <a:xfrm>
            <a:off x="96644" y="1455322"/>
            <a:ext cx="3679902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1800" b="1" dirty="0"/>
              <a:t>Implementation – Frontend Module</a:t>
            </a:r>
          </a:p>
          <a:p>
            <a:pPr marL="36576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/>
              <a:t>Developed using </a:t>
            </a:r>
            <a:r>
              <a:rPr lang="en-US" b="1" dirty="0"/>
              <a:t>React + TypeScript &amp; </a:t>
            </a:r>
            <a:r>
              <a:rPr lang="en-US" b="1" dirty="0" err="1"/>
              <a:t>TailwindCSS</a:t>
            </a:r>
            <a:r>
              <a:rPr lang="en-US" b="1" dirty="0"/>
              <a:t>.</a:t>
            </a:r>
            <a:endParaRPr lang="en-US" dirty="0"/>
          </a:p>
          <a:p>
            <a:pPr marL="36576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/>
              <a:t>Home page designed as a </a:t>
            </a:r>
            <a:r>
              <a:rPr lang="en-US" b="1" dirty="0"/>
              <a:t>real SaaS landing page.</a:t>
            </a:r>
            <a:endParaRPr lang="en-US" dirty="0"/>
          </a:p>
          <a:p>
            <a:pPr marL="36576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/>
              <a:t>Includes candidate preview panel and proctoring indicators.</a:t>
            </a:r>
          </a:p>
          <a:p>
            <a:pPr marL="36576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/>
              <a:t>Integrated Monaco editor &amp; proctoring overlay.</a:t>
            </a:r>
          </a:p>
          <a:p>
            <a:pPr marL="36576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/>
              <a:t>Shows risk score card, evidence timeline, and dashboard preview.</a:t>
            </a:r>
          </a:p>
          <a:p>
            <a:pPr marL="36576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/>
              <a:t>Focus on UX clarity, accessibility, responsiveness.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b="1">
                <a:solidFill>
                  <a:srgbClr val="FFFF00"/>
                </a:solidFill>
              </a:rPr>
              <a:t>Gantt Chart</a:t>
            </a:r>
            <a:endParaRPr b="1">
              <a:solidFill>
                <a:srgbClr val="FFFF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b="1">
              <a:solidFill>
                <a:srgbClr val="FFFF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879F88-D608-FA39-2697-4CB196D63D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6974" y="1366851"/>
            <a:ext cx="6670052" cy="364117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solidFill>
                  <a:srgbClr val="FFFF00"/>
                </a:solidFill>
              </a:rPr>
              <a:t>Conclusion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129" name="Google Shape;129;p21"/>
          <p:cNvSpPr txBox="1"/>
          <p:nvPr/>
        </p:nvSpPr>
        <p:spPr>
          <a:xfrm>
            <a:off x="3274175" y="1050550"/>
            <a:ext cx="6717900" cy="7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D9468C-A05E-6220-4999-7D2719FF9B17}"/>
              </a:ext>
            </a:extLst>
          </p:cNvPr>
          <p:cNvSpPr txBox="1"/>
          <p:nvPr/>
        </p:nvSpPr>
        <p:spPr>
          <a:xfrm>
            <a:off x="475785" y="1377753"/>
            <a:ext cx="8192429" cy="383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err="1"/>
              <a:t>ProctoEase</a:t>
            </a:r>
            <a:r>
              <a:rPr lang="en-US" dirty="0"/>
              <a:t> successfully delivers a </a:t>
            </a:r>
            <a:r>
              <a:rPr lang="en-US" b="1" dirty="0"/>
              <a:t>secure, transparent, and AI-assisted online exam system</a:t>
            </a:r>
            <a:r>
              <a:rPr lang="en-US" dirty="0"/>
              <a:t> with features like: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MCQ &amp; coding assessments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Browser-based proctoring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Snapshot-based evidence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Proctor Risk Score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Multi-tenant architecture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Plagiarism detection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Reliable offline support</a:t>
            </a:r>
          </a:p>
          <a:p>
            <a:pPr>
              <a:lnSpc>
                <a:spcPct val="150000"/>
              </a:lnSpc>
            </a:pPr>
            <a:r>
              <a:rPr lang="en-US" dirty="0"/>
              <a:t>It acts as a </a:t>
            </a:r>
            <a:r>
              <a:rPr lang="en-US" b="1" dirty="0"/>
              <a:t>lighter, cost-effective alternative</a:t>
            </a:r>
            <a:r>
              <a:rPr lang="en-US" dirty="0"/>
              <a:t> to enterprise platforms while remaining highly practical for academic and real-world use.</a:t>
            </a:r>
          </a:p>
          <a:p>
            <a:endParaRPr lang="en-IN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solidFill>
                  <a:srgbClr val="FFFF00"/>
                </a:solidFill>
              </a:rPr>
              <a:t>References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510CA4-A2F1-E4D7-043D-63C59F2EADC6}"/>
              </a:ext>
            </a:extLst>
          </p:cNvPr>
          <p:cNvSpPr txBox="1"/>
          <p:nvPr/>
        </p:nvSpPr>
        <p:spPr>
          <a:xfrm>
            <a:off x="245326" y="1226634"/>
            <a:ext cx="8207857" cy="4068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IN" sz="1200" dirty="0"/>
              <a:t>Bawa, N. &amp; Girdhar, A., “AI-Based Proctoring Techniques for Online Examinations,” IEEE Xplore, 2021.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IN" sz="1200" dirty="0"/>
              <a:t>Zhao, Y., et al., “Face Detection via Deep Learning for Remote Exam Monitoring,” Springer LNCS, 2020.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IN" sz="1200" dirty="0"/>
              <a:t>Kumar, P., “Online Examination System with Real-Time Proctoring,” IJCA, 2022.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IN" sz="1200" dirty="0"/>
              <a:t>Mercer Mettl, “Online Proctoring Market Trends Report,” 2022.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IN" sz="1200" dirty="0"/>
              <a:t>Google </a:t>
            </a:r>
            <a:r>
              <a:rPr lang="en-IN" sz="1200" dirty="0" err="1"/>
              <a:t>MediaPipe</a:t>
            </a:r>
            <a:r>
              <a:rPr lang="en-IN" sz="1200" dirty="0"/>
              <a:t> Documentation, 2023.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IN" sz="1200" dirty="0"/>
              <a:t>Judge0 API Documentation, 2023.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IN" sz="1200" dirty="0" err="1"/>
              <a:t>JPlag</a:t>
            </a:r>
            <a:r>
              <a:rPr lang="en-IN" sz="1200" dirty="0"/>
              <a:t> Official Documentation, 2023.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IN" sz="1200" dirty="0" err="1"/>
              <a:t>FastAPI</a:t>
            </a:r>
            <a:r>
              <a:rPr lang="en-IN" sz="1200" dirty="0"/>
              <a:t> Documentation, 2023.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IN" sz="1200" dirty="0"/>
              <a:t>NASSCOM Technology Adoption in Education Report, 2023.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IN" sz="1200" dirty="0" err="1"/>
              <a:t>Talview</a:t>
            </a:r>
            <a:r>
              <a:rPr lang="en-IN" sz="1200" dirty="0"/>
              <a:t> Whitepaper on AI Proctoring, 2023.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681</Words>
  <Application>Microsoft Office PowerPoint</Application>
  <PresentationFormat>On-screen Show (16:9)</PresentationFormat>
  <Paragraphs>113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Times New Roman</vt:lpstr>
      <vt:lpstr>Merriweather</vt:lpstr>
      <vt:lpstr>Roboto</vt:lpstr>
      <vt:lpstr>Arial</vt:lpstr>
      <vt:lpstr>Paradigm</vt:lpstr>
      <vt:lpstr>PowerPoint Presentation</vt:lpstr>
      <vt:lpstr>Content</vt:lpstr>
      <vt:lpstr>Introduction to Project  </vt:lpstr>
      <vt:lpstr>Problem Statement  </vt:lpstr>
      <vt:lpstr>Objectives of the project  </vt:lpstr>
      <vt:lpstr>Requirements of the system (Hardware, software) </vt:lpstr>
      <vt:lpstr>System Design of the proposed system</vt:lpstr>
      <vt:lpstr>Front End</vt:lpstr>
      <vt:lpstr>Implementation</vt:lpstr>
      <vt:lpstr>Gantt Chart 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Dell</dc:creator>
  <cp:lastModifiedBy>Sudheer Prajapati</cp:lastModifiedBy>
  <cp:revision>2</cp:revision>
  <dcterms:modified xsi:type="dcterms:W3CDTF">2025-12-11T15:45:03Z</dcterms:modified>
</cp:coreProperties>
</file>
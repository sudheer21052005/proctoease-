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C7375-59E1-48CA-BF15-255F926830F9}" v="2" dt="2026-02-13T05:12:19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r Prajapati" userId="bd05a478a34da835" providerId="LiveId" clId="{D227F83E-2ACD-4FFD-9F17-FC70223B3C35}"/>
    <pc:docChg chg="modSld">
      <pc:chgData name="Sudheer Prajapati" userId="bd05a478a34da835" providerId="LiveId" clId="{D227F83E-2ACD-4FFD-9F17-FC70223B3C35}" dt="2026-02-13T05:12:31.387" v="2" actId="20577"/>
      <pc:docMkLst>
        <pc:docMk/>
      </pc:docMkLst>
      <pc:sldChg chg="modSp mod">
        <pc:chgData name="Sudheer Prajapati" userId="bd05a478a34da835" providerId="LiveId" clId="{D227F83E-2ACD-4FFD-9F17-FC70223B3C35}" dt="2026-02-13T05:12:31.387" v="2" actId="20577"/>
        <pc:sldMkLst>
          <pc:docMk/>
          <pc:sldMk cId="0" sldId="267"/>
        </pc:sldMkLst>
        <pc:spChg chg="mod">
          <ac:chgData name="Sudheer Prajapati" userId="bd05a478a34da835" providerId="LiveId" clId="{D227F83E-2ACD-4FFD-9F17-FC70223B3C35}" dt="2026-02-13T05:12:31.387" v="2" actId="20577"/>
          <ac:spMkLst>
            <pc:docMk/>
            <pc:sldMk cId="0" sldId="267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194560"/>
            <a:ext cx="182880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ProctoEase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C6"/>
                </a:solidFill>
                <a:latin typeface="Calibri Light"/>
              </a:defRPr>
            </a:pPr>
            <a:r>
              <a:t>Multi-Tenant AI-Assisted Online Examination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8"/>
                </a:solidFill>
                <a:latin typeface="Calibri"/>
              </a:defRPr>
            </a:pPr>
            <a:r>
              <a:t>Backend Architecture — Phase-by-Phase Technical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  ·  PostgreSQL 16  ·  </a:t>
            </a:r>
            <a:r>
              <a:rPr dirty="0" err="1"/>
              <a:t>SQLAlchemy</a:t>
            </a:r>
            <a:r>
              <a:rPr dirty="0"/>
              <a:t> 2 (Async)  ·  Docker  ·  JWT + RLS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9601200" cy="54864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722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22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Project Overview &amp; Problem 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04288"/>
            <a:ext cx="9601200" cy="54864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3804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C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804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Technology Stack &amp;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62656"/>
            <a:ext cx="9601200" cy="54864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0388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388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Phase 1 — Foundation &amp; Database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9601200" cy="54864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69722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69722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Phase 2 — Authentication &amp; Tenant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79392"/>
            <a:ext cx="9601200" cy="54864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3555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3555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Phase 3 — Business Logic (Exams &amp; Attempts)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937759"/>
            <a:ext cx="9601200" cy="54864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013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0139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Cross-Cutting Design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596128"/>
            <a:ext cx="9601200" cy="54864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672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6723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API Summary &amp; What's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 &amp;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Traditional examination systems lack remote proctoring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No multi-tenant support — one instance per organisation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Cross-tenant data leakage risks in shared environments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Manual evaluation creates bottlenecks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Calibri"/>
              </a:defRPr>
            </a:pPr>
            <a:r>
              <a:t>Our Solution — ProctoEase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Multi-tenant SaaS — one deployment, many orgs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Row-Level Security at database level (defense-in-depth)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JWT-based auth with role-based access control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AI-assisted proctoring &amp; evaluation (future phases)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Clean, layered architecture for maintainability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10058400" cy="1828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Three User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Calibri"/>
              </a:defRPr>
            </a:pPr>
            <a:r>
              <a:t>● 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Platform owner, manages tenants and system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●  Recruiter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440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Creates and publishes exams within their 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C6"/>
                </a:solidFill>
                <a:latin typeface="Calibri"/>
              </a:defRPr>
            </a:pPr>
            <a:r>
              <a:t>●  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C8"/>
                </a:solidFill>
                <a:latin typeface="Calibri"/>
              </a:defRPr>
            </a:pPr>
            <a:r>
              <a:t>Takes published exams, views own attempt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50800"/>
          </a:xfrm>
          <a:prstGeom prst="rect">
            <a:avLst/>
          </a:prstGeom>
          <a:solidFill>
            <a:srgbClr val="00D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13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13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FastAPI ≥ 0.115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13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Async Python web framework with auto-generated OpenAPI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062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C6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62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62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Latest stable Python with modern type hint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6032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611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11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611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Enterprise-grade RDBMS with native RLS &amp; UUID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08959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159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59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SQLAlchemy 2 (Async)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59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mapped_column API + asyncpg driver for non-blocking I/O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708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Migrations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708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Alembic ≥ 1.14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08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Versioned, reversible schema migrations with async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0624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257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257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JWT (python-jose)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257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HS256 signed tokens with dual access/refresh strategy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754879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4805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805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bcrypt (passlib)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8056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Industry-standard password hashing with auto-salting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30352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8720" y="535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C6"/>
                </a:solidFill>
                <a:latin typeface="Calibri"/>
              </a:defRPr>
            </a:pPr>
            <a:r>
              <a:t>Containers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35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35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3-service stack: App + PostgreSQL 16 + Redis 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852160"/>
            <a:ext cx="10058400" cy="45720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88720" y="5902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902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Pydantic v2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90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Request/response serialisation with strict type enforcement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397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51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React Frontend (planned)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057400"/>
            <a:ext cx="274320" cy="1371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100584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219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C6"/>
                </a:solidFill>
                <a:latin typeface="Calibri"/>
              </a:defRPr>
            </a:pPr>
            <a:r>
              <a:t>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73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CORS  →  TenantMiddleware (JWT → tenant_id)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2880360"/>
            <a:ext cx="274320" cy="1371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100584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04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96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Auth  |  Tenants  |  Exams  |  Attempts  |  Health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3703320"/>
            <a:ext cx="274320" cy="1371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100584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86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19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get_current_user  |  require_role(*)  |  JWT  |  bcrypt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4526280"/>
            <a:ext cx="274320" cy="1371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4663440"/>
            <a:ext cx="100584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68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Service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42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auth_service  |  tenant_service  |  user_service  |  exam_service  |  attempt_service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43600" y="5349240"/>
            <a:ext cx="274320" cy="1371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5486400"/>
            <a:ext cx="10058400" cy="6858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551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76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get_db → SET app.current_tenant_id  →  PostgreSQL 16 + RLS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Foundation &amp; Database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Calibri"/>
              </a:defRPr>
            </a:pPr>
            <a:r>
              <a:t>Docker infrastructure, configuration management, async DB engine,</a:t>
            </a:r>
            <a:br/>
            <a:r>
              <a:t>ORM models with multi-tenant mixins, and Row-Level Security policies.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Docker Compose — 3-service stack (App + PostgreSQL + Redis)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Multi-stage Dockerfile on Python 3.12-slim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Pydantic Settings — env-driven configuration, zero hardcoded secrets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Async SQLAlchemy engine — pool size 20, pre-ping enabled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RLS-aware get_db dependency — sets tenant context per session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Base model + TimestampMixin + TenantMixin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Tenant model (name, slug, is_active)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User model (email, role, compound unique per tenant)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Alembic migration 001 — tables + RLS policies on users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Health check endpoint (/health)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1 — Docker Infrastructure &amp;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50292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Docker Compose — 3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PostgreSQL 16 Alpine — primary datastore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↳  Health check: pg_isready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↳  Persistent volume: pgdata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↳  init.sql enables uuid-ossp extension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Redis 7 Alpine — reserved for caching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↳  Health check: redis-cli ping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App (custom Dockerfile)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↳  Multi-stage build on python:3.12-slim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↳  Bind-mount ./app for live reload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↳  depends_on with service_healthy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50292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Pydantic Settings (config.py)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All config from .env file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Zero hardcoded secrets in source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Key Parameters: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DATABASE_URL    — async connection string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SECRET_KEY       — JWT signing key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ALGORITHM         — HS256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ACCESS_TOKEN    — 15 min expiry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REFRESH_TOKEN  — 7 day expiry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CORS_ORIGINS    — JSON-encoded list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@property cors_origin_list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  parses JSON string at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1 — Async DB Engine &amp; Row-Level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5603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Async Engine (database.py)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create_async_engine with asyncpg driver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Pool: size=20, max_overflow=10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pool_pre_ping=True — stale connection detection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expire_on_commit=False — safe async reads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5603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RLS — Defense in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Every session executes: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    SET app.current_tenant_id = '&lt;uuid&gt;'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RLS policy on every tenant-scoped table: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    USING (tenant_id = current_setting(...)::uuid)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▸  FORCE ROW LEVEL SECURITY enabled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    — applies even to table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25603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Request → Database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1. Client sends request with Bearer token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2. TenantMiddleware decodes JWT → extracts tenant_id → sets request.state.tenant_id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3. get_db opens async session → SET app.current_tenant_id = tenant_id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4. PostgreSQL RLS policy filters ALL queries to that tenant's rows only</a:t>
            </a:r>
          </a:p>
          <a:p>
            <a:pPr>
              <a:spcAft>
                <a:spcPts val="800"/>
              </a:spcAft>
              <a:defRPr sz="1500">
                <a:solidFill>
                  <a:srgbClr val="B0B8C8"/>
                </a:solidFill>
                <a:latin typeface="Calibri"/>
              </a:defRPr>
            </a:pPr>
            <a:r>
              <a:t>5. On success: commit() · On error: rollback() — single transaction per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1 — ORM Models &amp; Migration 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0116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Calibri"/>
              </a:defRPr>
            </a:pPr>
            <a:r>
              <a:t>Mixins (base.py)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TimestampMixin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created_at (tz-aware)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TenantMixin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tenant_id FK (indexed)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CASCADE on 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74720" cy="20116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C6"/>
                </a:solidFill>
                <a:latin typeface="Calibri"/>
              </a:defRPr>
            </a:pPr>
            <a:r>
              <a:t>Tenant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id — UUID (PK)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name — String(255)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slug — unique, indexed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is_active — Boolean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created_at — from mixin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474720" cy="20116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User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id — UUID (PK)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email — String(320)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hashed_password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full_name, role (enum)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UQ(tenant_id, email)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89920" cy="2926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Migration 001 — phase1_foundation.py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Creates tenants table with slug uniqueness + index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Creates users table with compound unique constraint (tenant_id, email)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Foreign key: users.tenant_id → tenants.id (CASCADE)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Enables RLS on users table: ALTER TABLE users ENABLE ROW LEVEL SECURITY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Forces RLS even for table owner: ALTER TABLE users FORCE ROW LEVEL SECURITY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Creates policy: tenant_isolation_users USING (tenant_id = current_setting('app.current_tenant_id')::uuid)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Clean downgrade: DROP POLICY → DISABLE RLS → DROP TABLE (reverse order)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Authentication &amp; Tenant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Calibri"/>
              </a:defRPr>
            </a:pPr>
            <a:r>
              <a:t>bcrypt password hashing, dual JWT token strategy,</a:t>
            </a:r>
            <a:br/>
            <a:r>
              <a:t>TenantMiddleware, RBAC dependencies, and auth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bcrypt password hashing via passlib (auto-salted, constant-time verify)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Dual JWT strategy — Access Token (15 min) + Refresh Token (7 days)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TenantMiddleware — extracts tenant_id from JWT, sets request.state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get_current_user dependency — single point of authentication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require_role(*) factory — composable RBAC enforcement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POST /auth/register — public, tenant-slug-based registration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POST /auth/login — returns access + refresh tokens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POST /auth/refresh — validates user still active before re-issuing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GET  /auth/me — returns authenticated user profile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2 — JWT Token Strategy &amp; Password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7432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Access Token (Short-Lived)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Lifetime: 15 minutes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Payload contains: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sub — user UUID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tenant_id — organisation UUID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role — admin | recruiter | candidate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type — 'access'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exp — expiration timestamp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Used for: Every API call authorization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Refresh Token (Long-Lived)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Lifetime: 7 days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Payload contains: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sub — user UUID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tenant_id — organisation UUID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type — 'refresh'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exp — expiration timestamp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Used for: Silent access token renewal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Note: No role — re-fetched on refresh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19456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Password Security (security.py)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Algorithm: bcrypt via passlib.CryptContext — industry standard, GPU-resistant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hash_password() — automatically salted, no two identical passwords produce the same hash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verify_password() — constant-time comparison prevents timing side-channel attacks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Design: role is embedded ONLY in access token (short-lived). If admin demotes a user, the change takes effect within 15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2 — TenantMiddleware &amp; RBAC Dependencies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926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TenantMiddleware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Runs BEFORE any route handler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Flow: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1. Check if path is public → skip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2. Read Authorization: Bearer header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3. Decode JWT → extract tenant_id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4. Set request.state.tenant_id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5. Forward to route handler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Public paths (no auth needed):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/, /health, /docs, /redoc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/api/v1/tenants, /api/v1/auth/*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RBAC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 err="1"/>
              <a:t>get_current_user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Validates access token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Fetches User from DB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Checks </a:t>
            </a:r>
            <a:r>
              <a:rPr dirty="0" err="1"/>
              <a:t>is_active</a:t>
            </a:r>
            <a:r>
              <a:rPr dirty="0"/>
              <a:t> flag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Sets </a:t>
            </a:r>
            <a:r>
              <a:rPr dirty="0" err="1"/>
              <a:t>request.state.tenant_id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Returns User ORM object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 err="1"/>
              <a:t>require_role</a:t>
            </a:r>
            <a:r>
              <a:rPr dirty="0"/>
              <a:t>(*allowed):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Dependency factory pattern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Composes on </a:t>
            </a:r>
            <a:r>
              <a:rPr dirty="0" err="1"/>
              <a:t>get_current_user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401 if not authenticated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rPr dirty="0"/>
              <a:t>  → 403 if role not in allowed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21031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Auth Endpoints (4 routes)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/api/v1/auth/register  →  Public  →  Register under tenant (resolved via slug)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/api/v1/auth/login        →  Public  →  Authenticate → return access + refresh tokens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/api/v1/auth/refresh     →  Public  →  Exchange refresh token → new token pair (validates user active)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 /api/v1/auth/me           →  Bearer  →  Return current user profile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Business Logic — Exams &amp; Attempts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Calibri"/>
              </a:defRPr>
            </a:pPr>
            <a:r>
              <a:t>Exam CRUD, ExamAttempt lifecycle, role-guarded endpoints,</a:t>
            </a:r>
            <a:br/>
            <a:r>
              <a:t>and RLS policies on all new business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Exam model — title, description, duration, is_published, created_by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ExamAttempt model — status lifecycle (started → submitted → evaluated)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Migration 002 — exams + exam_attempts tables with RLS policies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exam_service — create, list (role-aware), get by ID (tenant-scoped)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attempt_service — create attempt (published-only, single active enforcement)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POST /exams/ — Recruiter/Admin only (RBAC enforced)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GET /exams/ — Candidates see published only, Recruiters see all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POST /exams/{id}/attempts — Candidate only, with business validations</a:t>
            </a:r>
          </a:p>
          <a:p>
            <a:pPr>
              <a:spcAft>
                <a:spcPts val="800"/>
              </a:spcAft>
              <a:defRPr sz="1500">
                <a:solidFill>
                  <a:srgbClr val="10B981"/>
                </a:solidFill>
                <a:latin typeface="Calibri"/>
              </a:defRPr>
            </a:pPr>
            <a:r>
              <a:t>✓  GET /attempts/me — Candidate's own attempt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3 — Exam &amp; Attempt Models + Migration 002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7432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Exam Model (exam.py)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id — UUID (auto-generated PK)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tenant_id — FK → tenants (TenantMixin)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title — String(500), required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description — Text, optional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duration_minutes — Integer (default 60)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is_published — Boolean (controls visibility)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is_active — Boolean (soft delete)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created_by — FK → users (tracks creator)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created_at — from TimestampMixin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ExamAttempt Model (attempt.py)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id — UUID (auto-generated PK)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tenant_id — FK → tenants (TenantMixin)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exam_id — FK → exams (indexed)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candidate_id — FK → users (indexed)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status — started | submitted | evaluated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is_active — Boolean (soft delete)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started_at — auto-set on creation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submitted_at — null until submission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answers — JSON (flexible schema)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28600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Migration 002 — phase3_exams_attempts.py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Creates exams table with FK to tenants + users, indexes on tenant_id and created_by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Creates exam_attempts table with FK to tenants + exams + users, indexes on all three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RLS on exams: ENABLE → FORCE → CREATE POLICY tenant_isolation_exams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RLS on exam_attempts: ENABLE → FORCE → CREATE POLICY tenant_isolation_attempts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▸  Both policies use: USING (tenant_id = current_setting('app.current_tenant_id')::uuid)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3 — Services &amp;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303520" cy="25603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Calibri"/>
              </a:defRPr>
            </a:pPr>
            <a:r>
              <a:t>exam_service.py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create_exam(db, payload, tenant_id, creator_id)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Creates exam under the user's tenant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list_exams(db, tenant_id, published_only)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Candidates: published + active only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Recruiters/Admins: all active exams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Ordered by created_at DESC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get_exam(db, exam_id, tenant_id)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404 if not found or inactive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5603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C6"/>
                </a:solidFill>
                <a:latin typeface="Calibri"/>
              </a:defRPr>
            </a:pPr>
            <a:r>
              <a:t>attempt_service.py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create_attempt(db, exam_id, candidate_id, tenant_id)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Validates exam exists + published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400 if exam not published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409 if active attempt already exists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One active attempt per candidate per exam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list_my_attempts(db, candidate_id, tenant_id)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Returns own active attempts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  → Ordered by started_at DESC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Phase 3 API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 /api/v1/exams/                         →  Recruiter/Admin  →  Create new exam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   /api/v1/exams/                         →  Any authed           →  List exams (role-aware visibility)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   /api/v1/exams/{id}                   →  Any authed           →  Get single exam (tenant-scoped)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POST  /api/v1/exams/{id}/attempts     →  Candidate only   →  Start exam attempt</a:t>
            </a:r>
          </a:p>
          <a:p>
            <a:pPr>
              <a:spcAft>
                <a:spcPts val="800"/>
              </a:spcAft>
              <a:defRPr sz="1400">
                <a:solidFill>
                  <a:srgbClr val="B0B8C8"/>
                </a:solidFill>
                <a:latin typeface="Calibri"/>
              </a:defRPr>
            </a:pPr>
            <a:r>
              <a:t>GET     /api/v1/attempts/me                 →  Candidate only   →  List own attempts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Cross-Cutting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30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Calibri"/>
              </a:defRPr>
            </a:pPr>
            <a:r>
              <a:t>Multi-Tenancy: Belt &amp; Suspenders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10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Application-level WHERE tenant_id = X + PostgreSQL RLS policies.</a:t>
            </a:r>
            <a:br/>
            <a:r>
              <a:t>Even if a developer forgets the WHERE clause, the DB blocks cross-tenant reads.</a:t>
            </a:r>
            <a:br/>
            <a:r>
              <a:t>FORCE ROW LEVEL SECURITY applies even to the DB owner role.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56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C6"/>
                </a:solidFill>
                <a:latin typeface="Calibri"/>
              </a:defRPr>
            </a:pPr>
            <a:r>
              <a:t>Transaction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36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Services use flush() not commit(). The get_db dependency owns the lifecycle:</a:t>
            </a:r>
            <a:br/>
            <a:r>
              <a:t>Success → commit() · Error → rollback(). Multiple service calls in one</a:t>
            </a:r>
            <a:br/>
            <a:r>
              <a:t>route handler execute as a SINGLE atomic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982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Soft Deletes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62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Every business entity has is_active boolean. We never hard-delete rows.</a:t>
            </a:r>
            <a:br/>
            <a:r>
              <a:t>All queries filter by is_active = True. Preserves audit history and allows recovery.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799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30859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Calibri"/>
              </a:defRPr>
            </a:pPr>
            <a:r>
              <a:t>Separation of Concerns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8799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Calibri"/>
              </a:defRPr>
            </a:pPr>
            <a:r>
              <a:t>Middleware handles tenant extraction. Dependencies handle auth + RBAC.</a:t>
            </a:r>
            <a:br/>
            <a:r>
              <a:t>Services hold business logic. Routes are thin wrappers.</a:t>
            </a:r>
            <a:br/>
            <a:r>
              <a:t>Each layer can be tested and replaced independently.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API Endpoint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365760" cy="347472"/>
          </a:xfrm>
          <a:prstGeom prst="roundRect">
            <a:avLst>
              <a:gd name="adj" fmla="val 2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96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37160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96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96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96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96FF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25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96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773936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177393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773936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77393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73936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7393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2176272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176272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2176272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/api/v1/tenants/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176272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176272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176272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2578608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37360" y="2578608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578608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/api/v1/auth/register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2578608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578608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578608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2980944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37360" y="2980944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2980944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/api/v1/auth/login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2980944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980944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980944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3383280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37360" y="338328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3383280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/api/v1/auth/refresh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338328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383280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38328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0" y="3785616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37360" y="378561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68880" y="3785616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/api/v1/auth/me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378561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Bearer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3785616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78561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71600" y="4187952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37360" y="4187952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4187952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/api/v1/exams/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0" y="4187952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Bearer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187952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Recruiter/Admin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4187952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71600" y="4590288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37360" y="4590288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68880" y="4590288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/api/v1/exams/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0" y="4590288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Bearer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590288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4590288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71600" y="4992624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37360" y="4992624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68880" y="4992624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/api/v1/exams/{id}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0" y="4992624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Bearer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4992624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0" y="4992624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71600" y="5394960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37360" y="539496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68880" y="5394960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/api/v1/exams/{id}/attempts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0" y="539496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Bearer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5394960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Candidate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46720" y="5394960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5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71600" y="5797296"/>
            <a:ext cx="36576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737360" y="579729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468880" y="5797296"/>
            <a:ext cx="320040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/api/v1/attempts/me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0" y="579729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Bearer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0" y="5797296"/>
            <a:ext cx="16459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Candidate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46720" y="5797296"/>
            <a:ext cx="731520" cy="347472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100" b="0">
                <a:solidFill>
                  <a:srgbClr val="B0B8C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0" y="2286000"/>
            <a:ext cx="3017520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C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ProctoEase  ·  Multi-Tenant AI-Assisted Examination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2712</Words>
  <Application>Microsoft Office PowerPoint</Application>
  <PresentationFormat>Widescreen</PresentationFormat>
  <Paragraphs>390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Sudheer Prajapati</cp:lastModifiedBy>
  <cp:revision>1</cp:revision>
  <dcterms:created xsi:type="dcterms:W3CDTF">2013-01-27T09:14:16Z</dcterms:created>
  <dcterms:modified xsi:type="dcterms:W3CDTF">2026-02-13T05:12:38Z</dcterms:modified>
  <cp:category/>
</cp:coreProperties>
</file>
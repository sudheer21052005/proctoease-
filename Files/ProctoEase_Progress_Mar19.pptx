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286000"/>
            <a:ext cx="1828800" cy="50800"/>
          </a:xfrm>
          <a:prstGeom prst="rect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Today's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Segoe UI"/>
              </a:defRPr>
            </a:pPr>
            <a:r>
              <a:t>What we built on March 19,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Backend Phase 4 (Hardening)  +  Backend Phase 5 (AI Proctoring)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What We Did Today — Simple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Two backend phases completed in one session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83080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Made our app production-safe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✅  Better error messages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When something goes wrong, the API now returns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clear, helpful error messages — not ugly tracebacks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✅  Request tracking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Every API call gets a unique ID so we can track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issues across logs easily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✅  Safer Docker setup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App runs as non-root user, has health checks,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and builds faster with layer caching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783080"/>
            <a:ext cx="864108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Segoe UI"/>
              </a:defRPr>
            </a:pPr>
            <a:r>
              <a:t>Built the proctoring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✅  Proctoring events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System can now detect and record 8 types of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cheating — tab switches, copy/paste, etc.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✅  Exam questions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Exams can now have real questions — MCQ,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true/false, short answer, multi-select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✅  Live connection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WebSocket lets the browser send events to the</a:t>
            </a:r>
          </a:p>
          <a:p>
            <a:pPr>
              <a:spcAft>
                <a:spcPts val="5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r>
              <a:t>     server in real-time during an exam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Phase 4 — What We Changed &amp;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3716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325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Segoe UI"/>
              </a:defRPr>
            </a:pPr>
            <a:r>
              <a:t>Before: Ugly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Old way: Scattered HTTPException everywhere.</a:t>
            </a:r>
            <a:br/>
            <a:r>
              <a:t>Different error formats in different places.</a:t>
            </a:r>
            <a:br/>
            <a:r>
              <a:t>Tracebacks could leak in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70866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325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After: Clean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New way: 14 custom exception classes.</a:t>
            </a:r>
            <a:br/>
            <a:r>
              <a:t>Every error returns the same JSON format:</a:t>
            </a:r>
            <a:br/>
            <a:r>
              <a:t>{"detail": "...", "error_code": "..."}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512064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315468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Segoe UI"/>
              </a:defRPr>
            </a:pPr>
            <a:r>
              <a:t>Before: No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Old way: No way to trace which request</a:t>
            </a:r>
            <a:br/>
            <a:r>
              <a:t>caused a problem. print() statements</a:t>
            </a:r>
            <a:br/>
            <a:r>
              <a:t>scattered around.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63240"/>
            <a:ext cx="521208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3154680"/>
            <a:ext cx="70866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108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After: Smart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New way: Every request gets a unique ID.</a:t>
            </a:r>
            <a:br/>
            <a:r>
              <a:t>Logs show method, path, status, and time.</a:t>
            </a:r>
            <a:br/>
            <a:r>
              <a:t>JSON format in production, readable in dev.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512064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93776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BEFORE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Segoe UI"/>
              </a:defRPr>
            </a:pPr>
            <a:r>
              <a:t>Before: Basic 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Old way: App running as root user.</a:t>
            </a:r>
            <a:br/>
            <a:r>
              <a:t>No health checks. Slow rebuilds.</a:t>
            </a:r>
            <a:br/>
            <a:r>
              <a:t>No .dockerignore file.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846320"/>
            <a:ext cx="521208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92240" y="4937760"/>
            <a:ext cx="70866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After: Hardened Docker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257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New way: Non-root 'appuser' for security.</a:t>
            </a:r>
            <a:br/>
            <a:r>
              <a:t>HEALTHCHECK every 30 seconds.</a:t>
            </a:r>
            <a:br/>
            <a:r>
              <a:t>.dockerignore skips frontend from image.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Phase 4 — What We Used To Build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30352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488"/>
                </a:solidFill>
                <a:latin typeface="Segoe UI"/>
              </a:defRPr>
            </a:pPr>
            <a:r>
              <a:t>🔧  Python Exceptions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We created a tree of custom error classes. AppException is the</a:t>
            </a:r>
            <a:br/>
            <a:r>
              <a:t>parent, and specific errors like ExamNotFound or DuplicateEmail</a:t>
            </a:r>
            <a:br/>
            <a:r>
              <a:t>inherit from it. Each has a status code and error code built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03520" cy="50800"/>
          </a:xfrm>
          <a:prstGeom prst="rect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758D9"/>
                </a:solidFill>
                <a:latin typeface="Segoe UI"/>
              </a:defRPr>
            </a:pPr>
            <a:r>
              <a:t>🔧  FastAPI Error Handlers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Three global handlers catch all errors:</a:t>
            </a:r>
            <a:br/>
            <a:r>
              <a:t>1. Our custom exceptions → clean JSON</a:t>
            </a:r>
            <a:br/>
            <a:r>
              <a:t>2. Validation errors → field-level 422 messages</a:t>
            </a:r>
            <a:br/>
            <a:r>
              <a:t>3. Any unhandled error → generic 500 (safe in production)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40"/>
            <a:ext cx="53035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49040"/>
            <a:ext cx="5303520" cy="508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97306"/>
                </a:solidFill>
                <a:latin typeface="Segoe UI"/>
              </a:defRPr>
            </a:pPr>
            <a:r>
              <a:t>🔧  Python logging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Configured logging with two modes:</a:t>
            </a:r>
            <a:br/>
            <a:r>
              <a:t>• Development: human-readable colored output</a:t>
            </a:r>
            <a:br/>
            <a:r>
              <a:t>• Production: JSON format for log aggregation tools</a:t>
            </a:r>
            <a:br/>
            <a:r>
              <a:t>Every request gets a UUID for tracing.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749040"/>
            <a:ext cx="530352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749040"/>
            <a:ext cx="53035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Segoe UI"/>
              </a:defRPr>
            </a:pPr>
            <a:r>
              <a:t>🔧  Docker Best Practices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3434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Non-root user prevents container escapes.</a:t>
            </a:r>
            <a:br/>
            <a:r>
              <a:t>HEALTHCHECK lets Docker know if app is alive.</a:t>
            </a:r>
            <a:br/>
            <a:r>
              <a:t>.dockerignore cuts image size by excluding frontend.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Phase 5 — How Proctoring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The system watches for cheating and records every violation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10312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103120" cy="50800"/>
          </a:xfrm>
          <a:prstGeom prst="rect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1783080"/>
            <a:ext cx="457200" cy="457200"/>
          </a:xfrm>
          <a:prstGeom prst="ellipse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758D9"/>
                </a:solidFill>
                <a:latin typeface="Segoe UI"/>
              </a:defRPr>
            </a:pPr>
            <a:r>
              <a:t>Student opens exam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Browser connects to</a:t>
            </a:r>
            <a:br/>
            <a:r>
              <a:t>server via WebSocket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68880" y="2468880"/>
            <a:ext cx="182880" cy="16459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97479" y="1554480"/>
            <a:ext cx="210312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554480"/>
            <a:ext cx="2103120" cy="508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74719" y="1783080"/>
            <a:ext cx="457200" cy="457200"/>
          </a:xfrm>
          <a:prstGeom prst="ellipse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97306"/>
                </a:solidFill>
                <a:latin typeface="Segoe UI"/>
              </a:defRPr>
            </a:pPr>
            <a:r>
              <a:t>Something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Tab switch, copy key,</a:t>
            </a:r>
            <a:br/>
            <a:r>
              <a:t>fullscreen exit, etc.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00599" y="2468880"/>
            <a:ext cx="182880" cy="16459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1554480"/>
            <a:ext cx="210312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554480"/>
            <a:ext cx="21031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06440" y="178308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C3AED"/>
                </a:solidFill>
                <a:latin typeface="Segoe UI"/>
              </a:defRPr>
            </a:pPr>
            <a:r>
              <a:t>Browser detects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Front-end catches the</a:t>
            </a:r>
            <a:br/>
            <a:r>
              <a:t>event and sends it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32320" y="2468880"/>
            <a:ext cx="182880" cy="16459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19" y="1554480"/>
            <a:ext cx="210312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60919" y="1554480"/>
            <a:ext cx="210312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59" y="178308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Server records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Saved in database with</a:t>
            </a:r>
            <a:br/>
            <a:r>
              <a:t>type, time, severity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64039" y="2468880"/>
            <a:ext cx="182880" cy="164592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1554480"/>
            <a:ext cx="210312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1554480"/>
            <a:ext cx="210312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69880" y="1783080"/>
            <a:ext cx="457200" cy="4572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59669"/>
                </a:solidFill>
                <a:latin typeface="Segoe UI"/>
              </a:defRPr>
            </a:pPr>
            <a:r>
              <a:t>Count updates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7432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Recruiter sees total</a:t>
            </a:r>
            <a:br/>
            <a:r>
              <a:t>violations in real-time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114800"/>
            <a:ext cx="10698480" cy="228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What We Detect (8 violation types)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617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▸  Tab Switch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— Student switches to another tab or window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617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▸  Fullscreen Exit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— Student exits the fullscreen exam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029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▸  Keyboard Block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— Copy (Ctrl+C), Paste (Ctrl+V), Cut, Screenshot, Print, DevTools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029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▸  No Face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— Camera cannot detect a face — student may have left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▸  Multiple Faces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— More than one person visible to the camera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▸  Audio Anomaly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— Unusual sounds detected during the exam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852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▸  DevTools Open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5852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— Student opens browser developer tools (F12, etc.)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852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▸  Custom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5852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— Any other violation defined by the recruiter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Phase 5 — Exam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Exams can now have real questions — not just a title and duration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974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697480" cy="50800"/>
          </a:xfrm>
          <a:prstGeom prst="rect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58D9"/>
                </a:solidFill>
                <a:latin typeface="Segoe UI"/>
              </a:defRPr>
            </a:pPr>
            <a:r>
              <a:t>MCQ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Single correct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914400" cy="50800"/>
          </a:xfrm>
          <a:prstGeom prst="rect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Q: What is Python?</a:t>
            </a:r>
            <a:br/>
            <a:r>
              <a:t>A) Language  B) Snake</a:t>
            </a:r>
            <a:br/>
            <a:r>
              <a:t>C) Framework  D) Tool</a:t>
            </a:r>
            <a:br/>
            <a:br/>
            <a:r>
              <a:t>Correct: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463040"/>
            <a:ext cx="26974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463040"/>
            <a:ext cx="269748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Multi-Select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Multiple correct answers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2286000"/>
            <a:ext cx="9144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4688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Q: Select all databases:</a:t>
            </a:r>
            <a:br/>
            <a:r>
              <a:t>☑ PostgreSQL  ☑ MongoDB</a:t>
            </a:r>
            <a:br/>
            <a:r>
              <a:t>☐ React  ☑ Redis</a:t>
            </a:r>
            <a:br/>
            <a:br/>
            <a:r>
              <a:t>Correct: A, B, 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463040"/>
            <a:ext cx="26974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463040"/>
            <a:ext cx="269748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True / False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Simple yes or 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59" y="2286000"/>
            <a:ext cx="91440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24688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Q: FastAPI is async?</a:t>
            </a:r>
            <a:br/>
            <a:br/>
            <a:r>
              <a:t>☑ True</a:t>
            </a:r>
            <a:br/>
            <a:r>
              <a:t>☐ False</a:t>
            </a:r>
            <a:br/>
            <a:br/>
            <a:r>
              <a:t>Correct: True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19" y="1463040"/>
            <a:ext cx="26974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19" y="1463040"/>
            <a:ext cx="2697480" cy="508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19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306"/>
                </a:solidFill>
                <a:latin typeface="Segoe UI"/>
              </a:defRPr>
            </a:pPr>
            <a:r>
              <a:t>Short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Free text response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19" y="2286000"/>
            <a:ext cx="914400" cy="508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246888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Segoe UI"/>
              </a:defRPr>
            </a:pPr>
            <a:r>
              <a:t>Q: Name the ORM used</a:t>
            </a:r>
            <a:br/>
            <a:r>
              <a:t>    in this project.</a:t>
            </a:r>
            <a:br/>
            <a:br/>
            <a:r>
              <a:t>Answer: SQLAlchemy</a:t>
            </a:r>
            <a:br/>
            <a:br/>
            <a:r>
              <a:t>(Text compared)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💡  Smart: Candidates see questions WITHOUT answers  •  Recruiters see the full question with correct answers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New Endpoints We Added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7 new endpoints — these are the additions on top of the 11 we already had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27048"/>
            <a:ext cx="475488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08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/exams/{id}/attempts/{id}/proctor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83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Live WebSocket connection for real-time proctoring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508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Segoe UI"/>
              </a:defRPr>
            </a:pPr>
            <a:r>
              <a:t>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508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Opens a persistent connection. Browser sends events</a:t>
            </a:r>
            <a:br/>
            <a:r>
              <a:t>(tab switch, copy key) and server saves them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67128"/>
            <a:ext cx="106984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231136"/>
            <a:ext cx="553212" cy="256032"/>
          </a:xfrm>
          <a:prstGeom prst="roundRect">
            <a:avLst>
              <a:gd name="adj" fmla="val 50000"/>
            </a:avLst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2128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/attempts/{id}/events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4871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See all violations for an exam attempt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212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58D9"/>
                </a:solidFill>
                <a:latin typeface="Segoe UI"/>
              </a:defRPr>
            </a:pPr>
            <a:r>
              <a:t>Recruiter /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21284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Returns a list of every proctoring event —</a:t>
            </a:r>
            <a:br/>
            <a:r>
              <a:t>type, time, severity, and details.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871216"/>
            <a:ext cx="106984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2935224"/>
            <a:ext cx="553212" cy="256032"/>
          </a:xfrm>
          <a:prstGeom prst="roundRect">
            <a:avLst>
              <a:gd name="adj" fmla="val 50000"/>
            </a:avLst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9169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/attempts/{id}/events/count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19125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Quick violation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58D9"/>
                </a:solidFill>
                <a:latin typeface="Segoe UI"/>
              </a:defRPr>
            </a:pPr>
            <a:r>
              <a:t>Anyone logged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91693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Returns total count and breakdown by type:</a:t>
            </a:r>
            <a:br/>
            <a:r>
              <a:t>e.g. {tab_switch: 3, keyboard_block: 5}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575304"/>
            <a:ext cx="106984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3639312"/>
            <a:ext cx="630936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6210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/exams/{id}/questions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89534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Add a question to an exam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Recruiter /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62102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Send question text, type (MCQ etc.), options,</a:t>
            </a:r>
            <a:br/>
            <a:r>
              <a:t>correct answer, and point value.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79392"/>
            <a:ext cx="106984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4343400"/>
            <a:ext cx="553212" cy="256032"/>
          </a:xfrm>
          <a:prstGeom prst="roundRect">
            <a:avLst>
              <a:gd name="adj" fmla="val 50000"/>
            </a:avLst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3251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/exams/{id}/questions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5994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List all questions for an exam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3251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58D9"/>
                </a:solidFill>
                <a:latin typeface="Segoe UI"/>
              </a:defRPr>
            </a:pPr>
            <a:r>
              <a:t>Anyone logged 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32511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Candidates see questions WITHOUT correct answers.</a:t>
            </a:r>
            <a:br/>
            <a:r>
              <a:t>Recruiters see the full question.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983480"/>
            <a:ext cx="106984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14400" y="5047488"/>
            <a:ext cx="553212" cy="256032"/>
          </a:xfrm>
          <a:prstGeom prst="roundRect">
            <a:avLst>
              <a:gd name="adj" fmla="val 50000"/>
            </a:avLst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/questions/{id}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303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Get one specific question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758D9"/>
                </a:solidFill>
                <a:latin typeface="Segoe UI"/>
              </a:defRPr>
            </a:pPr>
            <a:r>
              <a:t>Recruiter / Admin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0292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Returns full question details including</a:t>
            </a:r>
            <a:br/>
            <a:r>
              <a:t>correct answer and point value.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687568"/>
            <a:ext cx="10698480" cy="62179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4400" y="5751576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33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t>/questions/{id}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600760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Remove a question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57332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Recruiter / Admin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573328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Segoe UI"/>
              </a:defRPr>
            </a:pPr>
            <a:r>
              <a:t>Soft-deletes it (marks inactive, doesn't</a:t>
            </a:r>
            <a:br/>
            <a:r>
              <a:t>permanently destroy data).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How We Built It — Tools &amp; Libraries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520440" cy="50800"/>
          </a:xfrm>
          <a:prstGeom prst="rect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758D9"/>
                </a:solidFill>
                <a:latin typeface="Segoe UI"/>
              </a:defRPr>
            </a:pPr>
            <a:r>
              <a:t>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Python web framework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731520" cy="50800"/>
          </a:xfrm>
          <a:prstGeom prst="rect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Handles all HTTP requests and WebSocket connections.</a:t>
            </a:r>
            <a:br/>
            <a:r>
              <a:t>Async by default — handles many users at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18872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79" y="1188720"/>
            <a:ext cx="352044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SQLAlchemy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1691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Database 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79" y="1965960"/>
            <a:ext cx="73152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We write Python classes, it generates SQL.</a:t>
            </a:r>
            <a:br/>
            <a:r>
              <a:t>Async sessions for non-blocking database queries.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18872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188720"/>
            <a:ext cx="352044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Segoe UI"/>
              </a:defRPr>
            </a:pPr>
            <a:r>
              <a:t>PostgreSQL JSONB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691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Flexible data storage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1965960"/>
            <a:ext cx="731520" cy="50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19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Question options and proctoring event details</a:t>
            </a:r>
            <a:br/>
            <a:r>
              <a:t>are stored as JSON inside the database.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31920"/>
            <a:ext cx="35204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WebSocket (FastAPI)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Real-time connection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709160"/>
            <a:ext cx="7315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846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Unlike normal HTTP (ask → answer), WebSocket stays</a:t>
            </a:r>
            <a:br/>
            <a:r>
              <a:t>open — browser can send data continuously.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393192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931920"/>
            <a:ext cx="3520440" cy="508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79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306"/>
                </a:solidFill>
                <a:latin typeface="Segoe UI"/>
              </a:defRPr>
            </a:pPr>
            <a:r>
              <a:t>Python logging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Request tracking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79" y="4709160"/>
            <a:ext cx="731520" cy="50800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79" y="4846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Every request gets a UUID. Logs show who did what,</a:t>
            </a:r>
            <a:br/>
            <a:r>
              <a:t>how long it took, and which tenant.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93192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46719" y="3931920"/>
            <a:ext cx="352044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19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Pydantic 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434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Data validation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19" y="4709160"/>
            <a:ext cx="731520" cy="50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19" y="48463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Segoe UI"/>
              </a:defRPr>
            </a:pPr>
            <a:r>
              <a:t>Automatically validates all incoming data.</a:t>
            </a:r>
            <a:br/>
            <a:r>
              <a:t>Wrong types or missing fields → clear 422 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"/>
              </a:defRPr>
            </a:pPr>
            <a:r>
              <a:t>Files We Created &amp;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14 new files created, 10+ existing files updated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59669"/>
                </a:solidFill>
                <a:latin typeface="Segoe UI"/>
              </a:defRPr>
            </a:pPr>
            <a:r>
              <a:t>✨  New Files (14)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Phase 4 — Error handling &amp; logging: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exceptions.py — all our custom error types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error_handlers.py — catches errors globally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logging.py — configures log format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logging middleware — tracks every request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.dockerignore — keeps image small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Phase 5 — Proctoring &amp; questions: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proctoring_event.py — violation data model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question.py — exam question data model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proctoring schemas — request/response shapes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question schemas — request/response shapes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proctoring_service.py — violation logic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question_service.py — question CRUD logic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proctoring router — WebSocket + REST APIs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questions router — question CRUD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97306"/>
                </a:solidFill>
                <a:latin typeface="Segoe UI"/>
              </a:defRPr>
            </a:pPr>
            <a:r>
              <a:t>🔄  Changed Files (10+)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Phase 4 — made all services safer: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auth_service.py — uses custom exceptions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exam_service.py — uses custom exceptions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attempt_service.py — uses custom exceptions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tenant_service.py — uses custom exceptions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user_service.py — uses custom exceptions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dependencies.py — uses custom exceptions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Phase 5 — connected everything: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main.py — error handlers + logging + tags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router.py — added proctoring &amp; question routes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models/__init__.py — registered new models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Dockerfile — non-root user + healthcheck</a:t>
            </a:r>
          </a:p>
          <a:p>
            <a:pPr>
              <a:spcAft>
                <a:spcPts val="5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  • All API routers — added summary for 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754880" y="2560320"/>
            <a:ext cx="2651760" cy="50800"/>
          </a:xfrm>
          <a:prstGeom prst="rect">
            <a:avLst/>
          </a:prstGeom>
          <a:solidFill>
            <a:srgbClr val="375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That's Today's Progress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0B981"/>
                </a:solidFill>
                <a:latin typeface="Segoe UI"/>
              </a:defRPr>
            </a:pPr>
            <a:r>
              <a:t>Phase 4 (Hardening) + Phase 5 (AI Proctoring) —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Next up: Phase 6 (Code Execution) → Phase 7 (Plagiarism Detection)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
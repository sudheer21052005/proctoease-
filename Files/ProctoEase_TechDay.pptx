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r Prajapati" userId="bd05a478a34da835" providerId="LiveId" clId="{D227F83E-2ACD-4FFD-9F17-FC70223B3C35}"/>
    <pc:docChg chg="undo custSel modSld">
      <pc:chgData name="Sudheer Prajapati" userId="bd05a478a34da835" providerId="LiveId" clId="{D227F83E-2ACD-4FFD-9F17-FC70223B3C35}" dt="2026-03-19T14:02:54.727" v="23" actId="123"/>
      <pc:docMkLst>
        <pc:docMk/>
      </pc:docMkLst>
      <pc:sldChg chg="modSp mod">
        <pc:chgData name="Sudheer Prajapati" userId="bd05a478a34da835" providerId="LiveId" clId="{D227F83E-2ACD-4FFD-9F17-FC70223B3C35}" dt="2026-03-19T14:00:48.144" v="5" actId="2710"/>
        <pc:sldMkLst>
          <pc:docMk/>
          <pc:sldMk cId="0" sldId="260"/>
        </pc:sldMkLst>
        <pc:spChg chg="mod">
          <ac:chgData name="Sudheer Prajapati" userId="bd05a478a34da835" providerId="LiveId" clId="{D227F83E-2ACD-4FFD-9F17-FC70223B3C35}" dt="2026-03-19T14:00:29.105" v="2" actId="2710"/>
          <ac:spMkLst>
            <pc:docMk/>
            <pc:sldMk cId="0" sldId="260"/>
            <ac:spMk id="9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0:37.718" v="3" actId="271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0:42.545" v="4" actId="271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0:48.144" v="5" actId="2710"/>
          <ac:spMkLst>
            <pc:docMk/>
            <pc:sldMk cId="0" sldId="260"/>
            <ac:spMk id="24" creationId="{00000000-0000-0000-0000-000000000000}"/>
          </ac:spMkLst>
        </pc:spChg>
      </pc:sldChg>
      <pc:sldChg chg="modSp mod">
        <pc:chgData name="Sudheer Prajapati" userId="bd05a478a34da835" providerId="LiveId" clId="{D227F83E-2ACD-4FFD-9F17-FC70223B3C35}" dt="2026-03-19T14:01:10.223" v="9" actId="123"/>
        <pc:sldMkLst>
          <pc:docMk/>
          <pc:sldMk cId="0" sldId="261"/>
        </pc:sldMkLst>
        <pc:spChg chg="mod">
          <ac:chgData name="Sudheer Prajapati" userId="bd05a478a34da835" providerId="LiveId" clId="{D227F83E-2ACD-4FFD-9F17-FC70223B3C35}" dt="2026-03-19T14:01:10.223" v="9" actId="123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Sudheer Prajapati" userId="bd05a478a34da835" providerId="LiveId" clId="{D227F83E-2ACD-4FFD-9F17-FC70223B3C35}" dt="2026-03-19T14:02:10.596" v="17" actId="2710"/>
        <pc:sldMkLst>
          <pc:docMk/>
          <pc:sldMk cId="0" sldId="263"/>
        </pc:sldMkLst>
        <pc:spChg chg="mod">
          <ac:chgData name="Sudheer Prajapati" userId="bd05a478a34da835" providerId="LiveId" clId="{D227F83E-2ACD-4FFD-9F17-FC70223B3C35}" dt="2026-03-19T14:01:43.608" v="13" actId="403"/>
          <ac:spMkLst>
            <pc:docMk/>
            <pc:sldMk cId="0" sldId="263"/>
            <ac:spMk id="2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6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7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1:31.991" v="10" actId="403"/>
          <ac:spMkLst>
            <pc:docMk/>
            <pc:sldMk cId="0" sldId="263"/>
            <ac:spMk id="9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23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2:10.596" v="17" actId="2710"/>
          <ac:spMkLst>
            <pc:docMk/>
            <pc:sldMk cId="0" sldId="263"/>
            <ac:spMk id="27" creationId="{00000000-0000-0000-0000-000000000000}"/>
          </ac:spMkLst>
        </pc:spChg>
        <pc:spChg chg="mod">
          <ac:chgData name="Sudheer Prajapati" userId="bd05a478a34da835" providerId="LiveId" clId="{D227F83E-2ACD-4FFD-9F17-FC70223B3C35}" dt="2026-03-19T14:01:43.608" v="13" actId="403"/>
          <ac:spMkLst>
            <pc:docMk/>
            <pc:sldMk cId="0" sldId="263"/>
            <ac:spMk id="30" creationId="{00000000-0000-0000-0000-000000000000}"/>
          </ac:spMkLst>
        </pc:spChg>
      </pc:sldChg>
      <pc:sldChg chg="modSp mod">
        <pc:chgData name="Sudheer Prajapati" userId="bd05a478a34da835" providerId="LiveId" clId="{D227F83E-2ACD-4FFD-9F17-FC70223B3C35}" dt="2026-03-19T14:02:54.727" v="23" actId="123"/>
        <pc:sldMkLst>
          <pc:docMk/>
          <pc:sldMk cId="0" sldId="266"/>
        </pc:sldMkLst>
        <pc:spChg chg="mod">
          <ac:chgData name="Sudheer Prajapati" userId="bd05a478a34da835" providerId="LiveId" clId="{D227F83E-2ACD-4FFD-9F17-FC70223B3C35}" dt="2026-03-19T14:02:54.727" v="23" actId="123"/>
          <ac:spMkLst>
            <pc:docMk/>
            <pc:sldMk cId="0" sldId="26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5029200"/>
          </a:xfrm>
          <a:prstGeom prst="roundRect">
            <a:avLst>
              <a:gd name="adj" fmla="val 4000"/>
            </a:avLst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16459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ProctoEase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6B6D4"/>
                </a:solidFill>
                <a:latin typeface="Segoe UI"/>
              </a:defRPr>
            </a:pPr>
            <a:r>
              <a:t>AI-Powered Online Examination &amp; Proctoring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Multi-Tenant SaaS  •  Real-Time AI Proctoring  •  Secure Code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731520"/>
          </a:xfrm>
          <a:prstGeom prst="roundRect">
            <a:avLst>
              <a:gd name="adj" fmla="val 4000"/>
            </a:avLst>
          </a:prstGeom>
          <a:solidFill>
            <a:srgbClr val="0C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Innovation Showcase 2026  •  MCA 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Rahul Bhagwat  •  Rushikesh Yadav  •  Sudheer Prajapati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394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Group 25A04  |  Guide: Prof. Indira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 &amp; 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3F5E"/>
                </a:solidFill>
                <a:latin typeface="Segoe UI"/>
              </a:defRPr>
            </a:pPr>
            <a:r>
              <a:t>❌  The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965960"/>
            <a:ext cx="9144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Online exams are vulnerable to cheating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— tab switching, screen sharing, impersonation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No affordable AI-powered proctoring solutions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for educational institutions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Manual invigilation doesn't scale for remote exams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Existing platforms lack multi-tenant support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— each organisation needs its own deployment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No integrated code execution for programming exams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with plagiarism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✅  ProctoEase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965960"/>
            <a:ext cx="914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AI-powered real-time proctoring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— face detection, gaze tracking, anomaly alerts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Multi-tenant SaaS architecture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— one deployment, many organisations, isolated data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Role-based access control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— Admin, Recruiter, Candidate permissions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Sandboxed code execution via Judge0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— safe evaluation of programming questions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AST-based plagiarism detection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— catches code similarity beyond text matching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329184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🤖  AI Proctoring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Real-time webcam monitoring with face detection,</a:t>
            </a:r>
            <a:br/>
            <a:r>
              <a:t>gaze tracking, and anomaly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1999" y="1417320"/>
            <a:ext cx="329184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366F1"/>
                </a:solidFill>
                <a:latin typeface="Segoe UI"/>
              </a:defRPr>
            </a:pPr>
            <a:r>
              <a:t>🔒  Multi-Tenant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Row-Level Security isolates data per organisation.</a:t>
            </a:r>
            <a:br/>
            <a:r>
              <a:t>4-layer tenant isolation with PostgreSQL RLS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3716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39" y="1417320"/>
            <a:ext cx="32918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19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⌨️  Code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011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Sandboxed Judge0 engine for programming exams.</a:t>
            </a:r>
            <a:br/>
            <a:r>
              <a:t>Supports 40+ languages with resource limits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3977640"/>
            <a:ext cx="32918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Segoe UI"/>
              </a:defRPr>
            </a:pPr>
            <a:r>
              <a:t>📊  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Weighted composite scores from proctoring events.</a:t>
            </a:r>
            <a:br/>
            <a:r>
              <a:t>Real-time violation tracking and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1999" y="3977640"/>
            <a:ext cx="329184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79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3F5E"/>
                </a:solidFill>
                <a:latin typeface="Segoe UI"/>
              </a:defRPr>
            </a:pPr>
            <a:r>
              <a:t>🔍  Plagiarism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572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AST-based code fingerprinting catches similarity</a:t>
            </a:r>
            <a:br/>
            <a:r>
              <a:t>beyond surface-level text matching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39" y="3977640"/>
            <a:ext cx="32918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19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📱  Modern 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5720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React + TypeScript SPA with responsive design,</a:t>
            </a:r>
            <a:br/>
            <a:r>
              <a:t>skeleton loaders, and dark mode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1371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45920" y="1527048"/>
            <a:ext cx="411480" cy="411480"/>
          </a:xfrm>
          <a:prstGeom prst="roundRect">
            <a:avLst>
              <a:gd name="adj" fmla="val 4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556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React + TypeScript  •  Tailwind CSS  •  shadcn/ui  •  Vite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2148840"/>
            <a:ext cx="228600" cy="18288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71600" y="2377440"/>
            <a:ext cx="941832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0" y="2377440"/>
            <a:ext cx="13716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45920" y="2532888"/>
            <a:ext cx="411480" cy="411480"/>
          </a:xfrm>
          <a:prstGeom prst="roundRect">
            <a:avLst>
              <a:gd name="adj" fmla="val 4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366F1"/>
                </a:solidFill>
                <a:latin typeface="Segoe UI"/>
              </a:defRPr>
            </a:pPr>
            <a: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7614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FastAPI (async)  •  CORS  •  Tenant Middleware  •  JWT Auth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43600" y="3154680"/>
            <a:ext cx="228600" cy="18288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71600" y="3383280"/>
            <a:ext cx="941832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0" y="3383280"/>
            <a:ext cx="1371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645920" y="3538728"/>
            <a:ext cx="411480" cy="4114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Business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7673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Auth  •  Exam CRUD  •  Attempt Management  •  Proctoring  •  Questions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43600" y="4160520"/>
            <a:ext cx="228600" cy="18288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371600" y="4389120"/>
            <a:ext cx="941832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371600" y="4389120"/>
            <a:ext cx="1371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645920" y="4544568"/>
            <a:ext cx="411480" cy="41148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434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Segoe UI"/>
              </a:defRPr>
            </a:pPr>
            <a:r>
              <a:t>AI / Code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7731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WebSocket Proctoring  •  Face Detection  •  Judge0 Code Exec  •  Plagiarism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943600" y="5166360"/>
            <a:ext cx="228600" cy="18288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371600" y="5394960"/>
            <a:ext cx="941832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71600" y="5394960"/>
            <a:ext cx="137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645920" y="5550408"/>
            <a:ext cx="41148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7790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PostgreSQL 16 (RLS)  •  Redis 7 (Cache/PubSub)  •  SQLAlchemy 2 (Async ORM)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50292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286000" cy="3138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FastAPI</a:t>
            </a:r>
            <a:r>
              <a:rPr dirty="0"/>
              <a:t> (Python 3.12)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SQLAlchemy</a:t>
            </a:r>
            <a:r>
              <a:rPr dirty="0"/>
              <a:t> 2.x (Async)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Alembic (Migrations)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Pydantic</a:t>
            </a:r>
            <a:r>
              <a:rPr dirty="0"/>
              <a:t> v2 (Validation)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Uvicorn</a:t>
            </a:r>
            <a:r>
              <a:rPr dirty="0"/>
              <a:t> (ASGI Server)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python-</a:t>
            </a:r>
            <a:r>
              <a:rPr dirty="0" err="1"/>
              <a:t>jose</a:t>
            </a:r>
            <a:r>
              <a:rPr dirty="0"/>
              <a:t> (JWT)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bcrypt</a:t>
            </a:r>
            <a:r>
              <a:rPr dirty="0"/>
              <a:t> (Password Hash)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97480" cy="50292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269748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965960"/>
            <a:ext cx="54864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148840"/>
            <a:ext cx="2286000" cy="3138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React 18 + TypeScript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Vite (Build Tool)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Tailwind CSS + </a:t>
            </a:r>
            <a:r>
              <a:rPr dirty="0" err="1"/>
              <a:t>shadcn</a:t>
            </a:r>
            <a:r>
              <a:rPr dirty="0"/>
              <a:t>/</a:t>
            </a:r>
            <a:r>
              <a:rPr dirty="0" err="1"/>
              <a:t>ui</a:t>
            </a:r>
            <a:endParaRPr dirty="0"/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React Router DOM v6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React Hook Form + Zod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TanStack</a:t>
            </a:r>
            <a:r>
              <a:rPr dirty="0"/>
              <a:t> React Query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Axios (HTTP Client)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371600"/>
            <a:ext cx="2697480" cy="50292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59" y="1371600"/>
            <a:ext cx="26974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59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59" y="1965960"/>
            <a:ext cx="5486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2148840"/>
            <a:ext cx="2286000" cy="3138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PostgreSQL 16 (+ RLS)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Redis 7 (Cache/</a:t>
            </a:r>
            <a:r>
              <a:rPr dirty="0" err="1"/>
              <a:t>PubSub</a:t>
            </a:r>
            <a:r>
              <a:rPr dirty="0"/>
              <a:t>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Docker + Compose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Judge0 CE (Code Exec)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Nginx (Reverse Proxy)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GitHub Actions (CI/CD)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Prometheus (Monitoring)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371600"/>
            <a:ext cx="2697480" cy="502920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19" y="1371600"/>
            <a:ext cx="269748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19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AI &amp;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19" y="1965960"/>
            <a:ext cx="54864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19" y="2148840"/>
            <a:ext cx="2286000" cy="3138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MediaPipe</a:t>
            </a:r>
            <a:r>
              <a:rPr dirty="0"/>
              <a:t> (Face Detect)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WebSocket (Real-time)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YOLO-face (Detection)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AST Fingerprinting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Risk Scoring Engine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Redis Pub/Sub (Events)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▸  Celery (Background)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🔑  Authentication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1.  Client sends login → email, password, </a:t>
            </a:r>
            <a:r>
              <a:rPr dirty="0" err="1"/>
              <a:t>tenant_slug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2.  Server resolves tenant → verifies credentials (</a:t>
            </a:r>
            <a:r>
              <a:rPr dirty="0" err="1"/>
              <a:t>bcrypt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3.  Issues JWT pair → Access Token (15 min) + Refresh Token (7 days)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4.  Access token contains: </a:t>
            </a:r>
            <a:r>
              <a:rPr dirty="0" err="1"/>
              <a:t>user_id</a:t>
            </a:r>
            <a:r>
              <a:rPr dirty="0"/>
              <a:t>, </a:t>
            </a:r>
            <a:r>
              <a:rPr dirty="0" err="1"/>
              <a:t>tenant_id</a:t>
            </a:r>
            <a:r>
              <a:rPr dirty="0"/>
              <a:t>, role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rPr dirty="0"/>
              <a:t>5.  Refresh endpoint rotates tokens seamlessly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Segoe UI"/>
              </a:defRPr>
            </a:pPr>
            <a:r>
              <a:t>🛡️  Role-Based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Admin       →  Full control, manage users &amp; settings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Recruiter  →  Create exams, view results &amp; violations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Candidate  →  Take exams, view own attempts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require_role() dependency enforces permissions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Returns 403 Forbidden if role is not allowed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23774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🏢  4-Layer Tenant Isolation (Defense-in-Depth)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709160"/>
            <a:ext cx="2377440" cy="1463040"/>
          </a:xfrm>
          <a:prstGeom prst="roundRect">
            <a:avLst>
              <a:gd name="adj" fmla="val 4000"/>
            </a:avLst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4709160"/>
            <a:ext cx="237744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Layer 1: 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12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tenant_id embedded in every token claim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4709160"/>
            <a:ext cx="2377440" cy="1463040"/>
          </a:xfrm>
          <a:prstGeom prst="roundRect">
            <a:avLst>
              <a:gd name="adj" fmla="val 4000"/>
            </a:avLst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03320" y="4709160"/>
            <a:ext cx="237744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Layer 2: 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212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Extracts tenant from JWT → sets request.state.tenant_id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709160"/>
            <a:ext cx="2377440" cy="1463040"/>
          </a:xfrm>
          <a:prstGeom prst="roundRect">
            <a:avLst>
              <a:gd name="adj" fmla="val 4000"/>
            </a:avLst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4709160"/>
            <a:ext cx="23774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Layer 3: DB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212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SET app.current_tenant_id on every PostgreSQL session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4709160"/>
            <a:ext cx="2377440" cy="1463040"/>
          </a:xfrm>
          <a:prstGeom prst="roundRect">
            <a:avLst>
              <a:gd name="adj" fmla="val 4000"/>
            </a:avLst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15400" y="4709160"/>
            <a:ext cx="237744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Segoe UI"/>
              </a:defRPr>
            </a:pPr>
            <a:r>
              <a:t>Layer 4: RLS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2120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PostgreSQL USING clause blocks cross-tenant data — even if app has bug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Proctoring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📷  Browser 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Webcam + microphone capture</a:t>
            </a:r>
          </a:p>
        </p:txBody>
      </p:sp>
      <p:sp>
        <p:nvSpPr>
          <p:cNvPr id="9" name="Down Arrow 8"/>
          <p:cNvSpPr/>
          <p:nvPr/>
        </p:nvSpPr>
        <p:spPr>
          <a:xfrm>
            <a:off x="2926080" y="2148840"/>
            <a:ext cx="228600" cy="13716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475488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109728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Segoe UI"/>
              </a:defRPr>
            </a:pPr>
            <a:r>
              <a:t>🔌  WebSocket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15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Real-time connection with JWT auth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926080" y="3108960"/>
            <a:ext cx="228600" cy="13716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475488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109728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🧠  Event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758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Detects violations in real-time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926080" y="4069080"/>
            <a:ext cx="228600" cy="13716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475488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251960"/>
            <a:ext cx="109728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💾  Store &amp; 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36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PostgreSQL + severity scoring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926080" y="5029200"/>
            <a:ext cx="228600" cy="137160"/>
          </a:xfrm>
          <a:prstGeom prst="down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5212080"/>
            <a:ext cx="4754880" cy="77724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5212080"/>
            <a:ext cx="109728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3F5E"/>
                </a:solidFill>
                <a:latin typeface="Segoe UI"/>
              </a:defRPr>
            </a:pPr>
            <a:r>
              <a:t>📊  Risk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596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Weighted composite for 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371600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8 Violation Types Detected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8288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Tab Switch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Fullscreen Exit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Keyboard Block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No Face Detected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18288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Multiple Faces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Audio Anomaly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Browser DevTools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▸  Custom Events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840480"/>
            <a:ext cx="5486400" cy="256032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Segoe UI"/>
              </a:defRPr>
            </a:pPr>
            <a:r>
              <a:t>16 Blocked Keyboard Shortcuts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29768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Ctrl+C  (Copy)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Ctrl+V  (Paste)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Ctrl+X  (Cut)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Ctrl+A  (Select All)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Ctrl+S  (Save)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Ctrl+P  (Print)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Ctrl+U  (View Source)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F12     (DevTools)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29768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Ctrl+Shift+I  (DevTools)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Ctrl+Shift+J  (Console)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Ctrl+Shift+S  (Screenshot)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PrintScreen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Alt+PrintScreen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Win+PrintScreen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Win+Shift+S   (Snip)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All logged as violations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PostgreSQL 16 with Row-Level Security · All PKs are UUID · Soft-delete everywhere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6616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108960" cy="415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Tenants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108960" cy="78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E2E8F0"/>
                </a:solidFill>
                <a:latin typeface="Segoe UI"/>
              </a:defRPr>
            </a:pPr>
            <a:r>
              <a:rPr sz="1600"/>
              <a:t>id, name, slug (unique),</a:t>
            </a:r>
            <a:br>
              <a:rPr sz="1600"/>
            </a:br>
            <a:r>
              <a:rPr sz="1600"/>
              <a:t>is_active, created_at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356616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108960" cy="415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1">
                <a:solidFill>
                  <a:srgbClr val="6366F1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108960" cy="744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E2E8F0"/>
                </a:solidFill>
                <a:latin typeface="Segoe UI"/>
              </a:defRPr>
            </a:pPr>
            <a:r>
              <a:rPr sz="1400" dirty="0"/>
              <a:t>id, email, </a:t>
            </a:r>
            <a:r>
              <a:rPr sz="1600" dirty="0" err="1"/>
              <a:t>hashed</a:t>
            </a:r>
            <a:r>
              <a:rPr sz="1400" dirty="0" err="1"/>
              <a:t>_password</a:t>
            </a:r>
            <a:r>
              <a:rPr sz="1400" dirty="0"/>
              <a:t>,</a:t>
            </a:r>
            <a:br>
              <a:rPr sz="1400" dirty="0"/>
            </a:br>
            <a:r>
              <a:rPr sz="1400" dirty="0" err="1"/>
              <a:t>full_name</a:t>
            </a:r>
            <a:r>
              <a:rPr sz="1400" dirty="0"/>
              <a:t>, role, </a:t>
            </a:r>
            <a:r>
              <a:rPr sz="1400" dirty="0" err="1"/>
              <a:t>tenant_id</a:t>
            </a:r>
            <a:r>
              <a:rPr sz="1400" dirty="0"/>
              <a:t> FK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91840"/>
            <a:ext cx="3108960" cy="30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rPr sz="1050"/>
              <a:t>tenant_id → tenants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566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783080"/>
            <a:ext cx="3108960" cy="415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48840"/>
            <a:ext cx="3108960" cy="102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E2E8F0"/>
                </a:solidFill>
                <a:latin typeface="Segoe UI"/>
              </a:defRPr>
            </a:pPr>
            <a:r>
              <a:rPr sz="1400"/>
              <a:t>id, title, description,</a:t>
            </a:r>
            <a:br>
              <a:rPr sz="1400"/>
            </a:br>
            <a:r>
              <a:rPr sz="1400"/>
              <a:t>duration_min, is_published,</a:t>
            </a:r>
            <a:br>
              <a:rPr sz="1400"/>
            </a:br>
            <a:r>
              <a:rPr sz="1400"/>
              <a:t>created_by FK, tenant_id FK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91840"/>
            <a:ext cx="3108960" cy="30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rPr sz="1050"/>
              <a:t>tenant_id → tenants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35661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3108960" cy="415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1">
                <a:solidFill>
                  <a:srgbClr val="8B5CF6"/>
                </a:solidFill>
                <a:latin typeface="Segoe UI"/>
              </a:defRPr>
            </a:pPr>
            <a:r>
              <a:t>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3108960" cy="102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E2E8F0"/>
                </a:solidFill>
                <a:latin typeface="Segoe UI"/>
              </a:defRPr>
            </a:pPr>
            <a:r>
              <a:rPr sz="1400"/>
              <a:t>id, exam_id FK, question_text,</a:t>
            </a:r>
            <a:br>
              <a:rPr sz="1400"/>
            </a:br>
            <a:r>
              <a:rPr sz="1400"/>
              <a:t>question_type, options (JSONB),</a:t>
            </a:r>
            <a:br>
              <a:rPr sz="1400"/>
            </a:br>
            <a:r>
              <a:rPr sz="1400"/>
              <a:t>correct_answer,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3108960" cy="30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rPr sz="1050"/>
              <a:t>exam_id → exams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11480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4114800"/>
            <a:ext cx="35661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4572000" y="4251960"/>
            <a:ext cx="3108960" cy="415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1">
                <a:solidFill>
                  <a:srgbClr val="F59E0B"/>
                </a:solidFill>
                <a:latin typeface="Segoe UI"/>
              </a:defRPr>
            </a:pPr>
            <a:r>
              <a:t>Exam Attempts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17720"/>
            <a:ext cx="3108960" cy="102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E2E8F0"/>
                </a:solidFill>
                <a:latin typeface="Segoe UI"/>
              </a:defRPr>
            </a:pPr>
            <a:r>
              <a:rPr sz="1400"/>
              <a:t>id, exam_id FK, candidate_id FK,</a:t>
            </a:r>
            <a:br>
              <a:rPr sz="1400"/>
            </a:br>
            <a:r>
              <a:rPr sz="1400"/>
              <a:t>status, answers (JSONB),</a:t>
            </a:r>
            <a:br>
              <a:rPr sz="1400"/>
            </a:br>
            <a:r>
              <a:rPr sz="1400"/>
              <a:t>started_at, submitted_at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760720"/>
            <a:ext cx="3108960" cy="30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rPr sz="1050"/>
              <a:t>exam_id → exams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11480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4114800"/>
            <a:ext cx="356616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4251960"/>
            <a:ext cx="3108960" cy="415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1">
                <a:solidFill>
                  <a:srgbClr val="F43F5E"/>
                </a:solidFill>
                <a:latin typeface="Segoe UI"/>
              </a:defRPr>
            </a:pPr>
            <a:r>
              <a:t>Proctoring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617720"/>
            <a:ext cx="3108960" cy="102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E2E8F0"/>
                </a:solidFill>
                <a:latin typeface="Segoe UI"/>
              </a:defRPr>
            </a:pPr>
            <a:r>
              <a:rPr sz="1400"/>
              <a:t>id, attempt_id FK, event_type,</a:t>
            </a:r>
            <a:br>
              <a:rPr sz="1400"/>
            </a:br>
            <a:r>
              <a:rPr sz="1400"/>
              <a:t>detail (JSONB), severity,</a:t>
            </a:r>
            <a:br>
              <a:rPr sz="1400"/>
            </a:br>
            <a:r>
              <a:rPr sz="1400"/>
              <a:t>snapshot_path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760720"/>
            <a:ext cx="3108960" cy="30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rPr sz="1050"/>
              <a:t>attempt_id → attempts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API Endpoints (18 Total)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45920" y="137160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000" b="1">
                <a:solidFill>
                  <a:srgbClr val="06B6D4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7160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64592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64592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Anyone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4592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Health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192024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192024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/api/v1/tenants/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2024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Anyone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92024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Create Org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2194559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194559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/api/v1/auth/register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194559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Anyone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194559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Register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246888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246888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/api/v1/auth/login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46888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Anyone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46888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Login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274320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274320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/api/v1/auth/refresh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74320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Anyone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274320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Refresh Token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45920" y="3017519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3017519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/api/v1/auth/me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017519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Logged-in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017519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Profile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329184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7440" y="329184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/api/v1/exams/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29184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Recruiter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29184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Create Exam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45920" y="356616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356616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/api/v1/exams/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56616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Logged-in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356616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List Exams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45920" y="3840479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77440" y="3840479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/api/v1/exams/{id}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840479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Logged-in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3840479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Get Exam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45920" y="411480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77440" y="411480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/exams/{id}/attempts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411480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Candidate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411480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Start Attempt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45920" y="438912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438912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/api/v1/attempts/me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438912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Candidate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438912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My Attempts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45920" y="4663439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WS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77440" y="4663439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/exams/{id}/attempts/{id}/proctor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663439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Candidate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0" y="4663439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Proctoring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645920" y="493776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377440" y="493776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/attempts/{id}/events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493776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Recruiter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72400" y="493776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View Violations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645920" y="521208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77440" y="521208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/attempts/{id}/events/count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9360" y="521208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Logged-in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72400" y="521208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Violation Count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645920" y="548640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77440" y="548640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/exams/{id}/questions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09360" y="548640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Recruiter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72400" y="548640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Add Question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645920" y="576072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377440" y="576072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/exams/{id}/questions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576072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Logged-in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72400" y="576072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List Questions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645920" y="6035040"/>
            <a:ext cx="7315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DELETE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377440" y="6035040"/>
            <a:ext cx="3931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/questions/{id}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09360" y="6035040"/>
            <a:ext cx="146304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Recruiter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72400" y="6035040"/>
            <a:ext cx="1645920" cy="237744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0">
                <a:solidFill>
                  <a:srgbClr val="E2E8F0"/>
                </a:solidFill>
                <a:latin typeface="Segoe UI"/>
              </a:defRPr>
            </a:pPr>
            <a:r>
              <a:t>Delete Question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Development Roadmap — 10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914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57276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Foundation &amp;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7160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914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75120" y="157276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Authentication &amp;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7744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377440"/>
            <a:ext cx="914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257860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Exams &amp; Attempts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37744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92240" y="2377440"/>
            <a:ext cx="914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75120" y="257860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Hardening &amp; Error Handling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8328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3383280"/>
            <a:ext cx="914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" y="358444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794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AI Proctoring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38328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92240" y="3383280"/>
            <a:ext cx="914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675120" y="358444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Phase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794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Judge0 Code Execution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38912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" y="4389120"/>
            <a:ext cx="914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14400" y="459028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Phase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Plagiarism Detection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38912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92240" y="4389120"/>
            <a:ext cx="914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675120" y="459028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Phase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Risk Scoring Engine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9496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520" y="5394960"/>
            <a:ext cx="9144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14400" y="559612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Phase 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5806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Reporting &amp; Analytics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539496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5394960"/>
            <a:ext cx="9144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675120" y="5596128"/>
            <a:ext cx="365760" cy="365760"/>
          </a:xfrm>
          <a:prstGeom prst="roundRect">
            <a:avLst>
              <a:gd name="adj" fmla="val 4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Phase 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806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Production Readiness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Design Decisions &amp; Risk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Segoe UI"/>
              </a:defRPr>
            </a:pPr>
            <a:r>
              <a:t>Key Design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5242562" cy="4288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🔐  Belt &amp; Suspenders Security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     App-level filtering + DB-level RLS = zero leaks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 dirty="0"/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⚡  Single Transaction per Request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     flush() in services, commit in dependency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     Multiple services = one atomic transaction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 dirty="0"/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♻️  Soft Deletes Everywhere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     </a:t>
            </a:r>
            <a:r>
              <a:rPr dirty="0" err="1"/>
              <a:t>is_active</a:t>
            </a:r>
            <a:r>
              <a:rPr dirty="0"/>
              <a:t> flag, never hard delete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     Preserves audit trail and enables recovery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 dirty="0"/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📐  Clean Layer Separation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     Routes → Services → Models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     Each layer independently testable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 dirty="0"/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🎯  Domain Exceptions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     14 custom exception classes</a:t>
            </a:r>
          </a:p>
          <a:p>
            <a:pPr algn="just"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rPr dirty="0"/>
              <a:t>     Consistent JSON error responses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40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Risk Mitigation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⚠️  WebSocket Scaling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     → Connection limits + horizontal scaling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⚠️  ML Inference Latency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     → Offload to Celery workers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⚠️  Judge0 Resource Exhaustion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     → Per-submission timeout + memory cap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⚠️  RLS Bypass Bug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     → Unit test verifies tenant context always set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⚠️  Refresh Token Theft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     → DB-backed token store + rotation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⚠️  Plagiarism False Positives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     → AST-level comparison ignoring boilerplate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03920" cy="4389120"/>
          </a:xfrm>
          <a:prstGeom prst="roundRect">
            <a:avLst>
              <a:gd name="adj" fmla="val 4000"/>
            </a:avLst>
          </a:prstGeom>
          <a:solidFill>
            <a:srgbClr val="0E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85039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Segoe UI"/>
              </a:defRPr>
            </a:pPr>
            <a:r>
              <a:t>Questions &amp;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0B981"/>
                </a:solidFill>
                <a:latin typeface="Segoe UI"/>
              </a:defRPr>
            </a:pPr>
            <a:r>
              <a:t>✅ 5/5 Backend Phases Done  •  ✅ 5/5 Frontend Phases Done  •  5 More Phases Planned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303520"/>
            <a:ext cx="8503920" cy="1097280"/>
          </a:xfrm>
          <a:prstGeom prst="roundRect">
            <a:avLst>
              <a:gd name="adj" fmla="val 4000"/>
            </a:avLst>
          </a:prstGeom>
          <a:solidFill>
            <a:srgbClr val="0C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Team: Group 25A04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Rahul Bhagwat  •  Rushikesh Yadav  •  Sudheer Prajapati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Guide: Prof. Indira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MCA Department  •  Innovation Showcase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1524</Words>
  <Application>Microsoft Office PowerPoint</Application>
  <PresentationFormat>Widescreen</PresentationFormat>
  <Paragraphs>326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Sudheer Prajapati</cp:lastModifiedBy>
  <cp:revision>1</cp:revision>
  <dcterms:created xsi:type="dcterms:W3CDTF">2013-01-27T09:14:16Z</dcterms:created>
  <dcterms:modified xsi:type="dcterms:W3CDTF">2026-03-19T14:02:55Z</dcterms:modified>
  <cp:category/>
</cp:coreProperties>
</file>